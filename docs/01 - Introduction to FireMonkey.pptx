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10287000" cx="18288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Quattrocento Sans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5.xml"/><Relationship Id="rId33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italic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bold.fntdata"/><Relationship Id="rId15" Type="http://schemas.openxmlformats.org/officeDocument/2006/relationships/slide" Target="slides/slide9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5a5229a9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5a5229a9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a5229a9a0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a5229a9a0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a5229a9a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a5229a9a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a5229a9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5a5229a9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5a5229a9a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5a5229a9a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5a5229a9a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5a5229a9a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5a5229a9a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5a5229a9a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a5229a9a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a5229a9a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reach any template from the “Blank Application” that is what we are starting with.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5a5229a9a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5a5229a9a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a5229a9a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5a5229a9a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a5229a9a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a5229a9a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5a5229a9a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5a5229a9a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5a5229a9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5a5229a9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a5229a9a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a5229a9a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5a5229a9a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5a5229a9a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5a5229a9a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5a5229a9a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5a5229a9a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5a5229a9a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5a5229a9a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5a5229a9a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5a5229a9a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5a5229a9a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FMX Compared to VCL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Similarities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What are advantages?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What are limitations?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5a5229a9a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5a5229a9a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5a5229a9a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5a5229a9a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5a5229a9a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5a5229a9a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320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320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320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3200"/>
              </a:spcBef>
              <a:spcAft>
                <a:spcPts val="320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320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320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320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3200"/>
              </a:spcBef>
              <a:spcAft>
                <a:spcPts val="320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9793" l="0" r="0" t="0"/>
          <a:stretch/>
        </p:blipFill>
        <p:spPr>
          <a:xfrm flipH="1" rot="10800000">
            <a:off x="0" y="-3"/>
            <a:ext cx="18288003" cy="1030912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9429750"/>
            <a:ext cx="18288000" cy="87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>
            <p:ph type="ctrTitle"/>
          </p:nvPr>
        </p:nvSpPr>
        <p:spPr>
          <a:xfrm>
            <a:off x="2286000" y="5512117"/>
            <a:ext cx="137160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Calibri"/>
              <a:buNone/>
              <a:defRPr b="0" i="0" sz="9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286000" y="7518081"/>
            <a:ext cx="13716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10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423090"/>
            <a:ext cx="3252369" cy="863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247775" y="2564607"/>
            <a:ext cx="157734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b="0" i="0" sz="9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1247775" y="6884194"/>
            <a:ext cx="15773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1257300" y="2738438"/>
            <a:ext cx="7772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9258300" y="2738438"/>
            <a:ext cx="7772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1259682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1259682" y="2521745"/>
            <a:ext cx="77364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1259682" y="3757613"/>
            <a:ext cx="7736400" cy="55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body"/>
          </p:nvPr>
        </p:nvSpPr>
        <p:spPr>
          <a:xfrm>
            <a:off x="9258300" y="2521745"/>
            <a:ext cx="77748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body"/>
          </p:nvPr>
        </p:nvSpPr>
        <p:spPr>
          <a:xfrm>
            <a:off x="9258300" y="3757613"/>
            <a:ext cx="7774800" cy="55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96" name="Google Shape;96;p19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hite">
  <p:cSld name="BLANK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1259682" y="685800"/>
            <a:ext cx="58986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7774782" y="1481138"/>
            <a:ext cx="9258000" cy="7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5334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953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57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191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191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191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191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191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191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2" type="body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1259682" y="685800"/>
            <a:ext cx="58986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116" name="Google Shape;116;p24"/>
          <p:cNvSpPr/>
          <p:nvPr>
            <p:ph idx="2" type="pic"/>
          </p:nvPr>
        </p:nvSpPr>
        <p:spPr>
          <a:xfrm>
            <a:off x="7774782" y="1481138"/>
            <a:ext cx="9258000" cy="7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 rot="5400000">
            <a:off x="5511900" y="-2253392"/>
            <a:ext cx="7264200" cy="15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5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5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 rot="5400000">
            <a:off x="10700100" y="2935088"/>
            <a:ext cx="87180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 rot="5400000">
            <a:off x="2698950" y="-894112"/>
            <a:ext cx="8718000" cy="11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9429750"/>
            <a:ext cx="18288000" cy="87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9423090"/>
            <a:ext cx="3252369" cy="863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X_Logo_76x76px"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514594" y="9636448"/>
            <a:ext cx="465970" cy="46597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14988099" y="9549550"/>
            <a:ext cx="3252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RAD Studio 10.3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800"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100388" y="9603002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9665493" y="960701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8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9755" l="0" r="0" t="85144"/>
          <a:stretch/>
        </p:blipFill>
        <p:spPr>
          <a:xfrm flipH="1" rot="10800000">
            <a:off x="0" y="-3"/>
            <a:ext cx="18288003" cy="58293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mbt.co/FmxMobileAppTrain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ocwiki.embarcadero.com/RADStudio/en/FireMonkey_Quick_Start_Guide_-_Introduction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embt.co/TutorialTabPages" TargetMode="External"/><Relationship Id="rId4" Type="http://schemas.openxmlformats.org/officeDocument/2006/relationships/hyperlink" Target="http://embt.co/SettingTextParameters" TargetMode="External"/><Relationship Id="rId5" Type="http://schemas.openxmlformats.org/officeDocument/2006/relationships/hyperlink" Target="http://embt.co/FMXNativ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embt.co/PlatformServic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embt.co/PlatformServices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://docwiki.embarcadero.com/RADStudio/en/Using_FireMonkey_View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ocwiki.embarcadero.com/RADStudio/en/Multi-Device_Preview" TargetMode="External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hyperlink" Target="http://docwiki.embarcadero.com/RADStudio/en/FireUI_Live_Preview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embt.co/FireDACOverview" TargetMode="External"/><Relationship Id="rId4" Type="http://schemas.openxmlformats.org/officeDocument/2006/relationships/hyperlink" Target="http://embt.co/FireDACMobile" TargetMode="External"/><Relationship Id="rId5" Type="http://schemas.openxmlformats.org/officeDocument/2006/relationships/hyperlink" Target="https://embt.co/LiveBindings" TargetMode="External"/><Relationship Id="rId6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hyperlink" Target="http://delphi.org/2016/10/firemonkey-vs-vcl/" TargetMode="External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hyperlink" Target="http://docwiki.embarcadero.com/RADStudio/en/FireMonkey_3D" TargetMode="External"/><Relationship Id="rId22" Type="http://schemas.openxmlformats.org/officeDocument/2006/relationships/hyperlink" Target="http://docwiki.embarcadero.com/RADStudio/en/Tutorial:_Creating_a_FireMonkey_3D_Application" TargetMode="External"/><Relationship Id="rId21" Type="http://schemas.openxmlformats.org/officeDocument/2006/relationships/hyperlink" Target="http://docwiki.embarcadero.com/RADStudio/en/Tutorial:_Creating_a_FireMonkey_3D_Application" TargetMode="External"/><Relationship Id="rId24" Type="http://schemas.openxmlformats.org/officeDocument/2006/relationships/hyperlink" Target="http://docwiki.embarcadero.com/RADStudio/en/FireMonkey_Component_Library" TargetMode="External"/><Relationship Id="rId23" Type="http://schemas.openxmlformats.org/officeDocument/2006/relationships/hyperlink" Target="http://docwiki.embarcadero.com/RADStudio/en/FireMonkey_Component_Library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embt.co/MoreFmxUI" TargetMode="External"/><Relationship Id="rId4" Type="http://schemas.openxmlformats.org/officeDocument/2006/relationships/hyperlink" Target="http://docwiki.embarcadero.com/RADStudio/en/FireMonkey" TargetMode="External"/><Relationship Id="rId9" Type="http://schemas.openxmlformats.org/officeDocument/2006/relationships/hyperlink" Target="http://docwiki.embarcadero.com/RADStudio/en/FireMonkey_Quick_Start_Guide_-_Introduction" TargetMode="External"/><Relationship Id="rId26" Type="http://schemas.openxmlformats.org/officeDocument/2006/relationships/hyperlink" Target="http://docwiki.embarcadero.com/Libraries/en/FMX" TargetMode="External"/><Relationship Id="rId25" Type="http://schemas.openxmlformats.org/officeDocument/2006/relationships/hyperlink" Target="http://docwiki.embarcadero.com/Libraries/en/FMX" TargetMode="External"/><Relationship Id="rId5" Type="http://schemas.openxmlformats.org/officeDocument/2006/relationships/hyperlink" Target="http://docwiki.embarcadero.com/RADStudio/en/FireMonkey" TargetMode="External"/><Relationship Id="rId6" Type="http://schemas.openxmlformats.org/officeDocument/2006/relationships/hyperlink" Target="http://docwiki.embarcadero.com/RADStudio/en/FireMonkey_Quick_Start_Guide_-_Introduction" TargetMode="External"/><Relationship Id="rId7" Type="http://schemas.openxmlformats.org/officeDocument/2006/relationships/hyperlink" Target="http://docwiki.embarcadero.com/RADStudio/en/FireMonkey_Quick_Start_Guide_-_Introduction" TargetMode="External"/><Relationship Id="rId8" Type="http://schemas.openxmlformats.org/officeDocument/2006/relationships/hyperlink" Target="http://docwiki.embarcadero.com/RADStudio/en/FireMonkey_Quick_Start_Guide_-_Introduction" TargetMode="External"/><Relationship Id="rId11" Type="http://schemas.openxmlformats.org/officeDocument/2006/relationships/hyperlink" Target="http://docwiki.embarcadero.com/RADStudio/en/FireMonkey_Components_Guide" TargetMode="External"/><Relationship Id="rId10" Type="http://schemas.openxmlformats.org/officeDocument/2006/relationships/hyperlink" Target="http://docwiki.embarcadero.com/RADStudio/en/FireMonkey_Quick_Start_Guide_-_Introduction" TargetMode="External"/><Relationship Id="rId13" Type="http://schemas.openxmlformats.org/officeDocument/2006/relationships/hyperlink" Target="http://docwiki.embarcadero.com/RADStudio/en/FireMonkey_Applications_Guide" TargetMode="External"/><Relationship Id="rId12" Type="http://schemas.openxmlformats.org/officeDocument/2006/relationships/hyperlink" Target="http://docwiki.embarcadero.com/RADStudio/en/FireMonkey_Components_Guide" TargetMode="External"/><Relationship Id="rId15" Type="http://schemas.openxmlformats.org/officeDocument/2006/relationships/hyperlink" Target="http://docwiki.embarcadero.com/RADStudio/en/Multi-Device_Applications_Index" TargetMode="External"/><Relationship Id="rId14" Type="http://schemas.openxmlformats.org/officeDocument/2006/relationships/hyperlink" Target="http://docwiki.embarcadero.com/RADStudio/en/FireMonkey_Applications_Guide" TargetMode="External"/><Relationship Id="rId17" Type="http://schemas.openxmlformats.org/officeDocument/2006/relationships/hyperlink" Target="http://docwiki.embarcadero.com/RADStudio/en/FireMonkey_Tutorials" TargetMode="External"/><Relationship Id="rId16" Type="http://schemas.openxmlformats.org/officeDocument/2006/relationships/hyperlink" Target="http://docwiki.embarcadero.com/RADStudio/en/Multi-Device_Applications_Index" TargetMode="External"/><Relationship Id="rId19" Type="http://schemas.openxmlformats.org/officeDocument/2006/relationships/hyperlink" Target="http://docwiki.embarcadero.com/RADStudio/en/FireMonkey_3D" TargetMode="External"/><Relationship Id="rId18" Type="http://schemas.openxmlformats.org/officeDocument/2006/relationships/hyperlink" Target="http://docwiki.embarcadero.com/RADStudio/en/FireMonkey_Tutorial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1247800" y="5143504"/>
            <a:ext cx="15773400" cy="1700400"/>
          </a:xfrm>
          <a:prstGeom prst="rect">
            <a:avLst/>
          </a:prstGeom>
        </p:spPr>
        <p:txBody>
          <a:bodyPr anchorCtr="0" anchor="b" bIns="68550" lIns="137150" spcFirstLastPara="1" rIns="1371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00"/>
              <a:t>Introduction to FireMonkey</a:t>
            </a:r>
            <a:endParaRPr sz="10400"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1247775" y="6884194"/>
            <a:ext cx="15773400" cy="22500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000"/>
              <a:t>The cross platform application development framework!</a:t>
            </a:r>
            <a:endParaRPr i="1" sz="4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Windows, iOS, macOS, Android, and Linux*</a:t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" sz="2600"/>
              <a:t>*FMX </a:t>
            </a:r>
            <a:r>
              <a:rPr lang="en" sz="2600"/>
              <a:t>Linux support comes from optional 3</a:t>
            </a:r>
            <a:r>
              <a:rPr baseline="30000" lang="en" sz="2600" u="sng"/>
              <a:t>rd</a:t>
            </a:r>
            <a:r>
              <a:rPr lang="en" sz="2600"/>
              <a:t> party add-ins</a:t>
            </a:r>
            <a:endParaRPr sz="2600"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0575" y="1191450"/>
            <a:ext cx="3907800" cy="3762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/>
        </p:nvSpPr>
        <p:spPr>
          <a:xfrm>
            <a:off x="493900" y="917225"/>
            <a:ext cx="2375700" cy="2250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Quattrocento Sans"/>
                <a:ea typeface="Quattrocento Sans"/>
                <a:cs typeface="Quattrocento Sans"/>
                <a:sym typeface="Quattrocento Sans"/>
              </a:rPr>
              <a:t>Part 1</a:t>
            </a:r>
            <a:endParaRPr sz="60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Quattrocento Sans"/>
                <a:ea typeface="Quattrocento Sans"/>
                <a:cs typeface="Quattrocento Sans"/>
                <a:sym typeface="Quattrocento Sans"/>
              </a:rPr>
              <a:t>Week of May 20</a:t>
            </a:r>
            <a:r>
              <a:rPr baseline="30000" lang="en" sz="3600" u="sng">
                <a:latin typeface="Quattrocento Sans"/>
                <a:ea typeface="Quattrocento Sans"/>
                <a:cs typeface="Quattrocento Sans"/>
                <a:sym typeface="Quattrocento Sans"/>
              </a:rPr>
              <a:t>th</a:t>
            </a:r>
            <a:endParaRPr baseline="30000" sz="3600" u="sng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1247775" y="2564607"/>
            <a:ext cx="15773400" cy="4279200"/>
          </a:xfrm>
          <a:prstGeom prst="rect">
            <a:avLst/>
          </a:prstGeom>
        </p:spPr>
        <p:txBody>
          <a:bodyPr anchorCtr="0" anchor="b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Labs &amp; Office Hours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1247775" y="6884194"/>
            <a:ext cx="15773400" cy="22500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Thursday 23rd of May 10:00 AM MDT at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https://attendee.gotowebinar.com/register/7793455364685022220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 this section we cover</a:t>
            </a:r>
            <a:endParaRPr i="1"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1257300" y="2001200"/>
            <a:ext cx="118806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What is FireMonkey?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The FMX Form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FMX Layouts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FireMonkey Platform Services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Platform Default Behaviors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FireUI - Technology to Fine Tune Your UI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FMX Compared to VCL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Building Your First FireMonkey App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along: </a:t>
            </a:r>
            <a:r>
              <a:rPr lang="en" sz="3800" u="sng">
                <a:solidFill>
                  <a:schemeClr val="hlink"/>
                </a:solidFill>
                <a:hlinkClick r:id="rId3"/>
              </a:rPr>
              <a:t>https://embt.co/FmxMobileAppTraining</a:t>
            </a:r>
            <a:endParaRPr/>
          </a:p>
        </p:txBody>
      </p:sp>
      <p:grpSp>
        <p:nvGrpSpPr>
          <p:cNvPr id="153" name="Google Shape;153;p29"/>
          <p:cNvGrpSpPr/>
          <p:nvPr/>
        </p:nvGrpSpPr>
        <p:grpSpPr>
          <a:xfrm>
            <a:off x="12559205" y="878735"/>
            <a:ext cx="4638525" cy="7860700"/>
            <a:chOff x="6279603" y="363167"/>
            <a:chExt cx="2319263" cy="3930350"/>
          </a:xfrm>
        </p:grpSpPr>
        <p:sp>
          <p:nvSpPr>
            <p:cNvPr id="154" name="Google Shape;154;p29"/>
            <p:cNvSpPr/>
            <p:nvPr/>
          </p:nvSpPr>
          <p:spPr>
            <a:xfrm>
              <a:off x="6546340" y="363167"/>
              <a:ext cx="2052525" cy="3930350"/>
            </a:xfrm>
            <a:custGeom>
              <a:rect b="b" l="l" r="r" t="t"/>
              <a:pathLst>
                <a:path extrusionOk="0" h="157214" w="82101">
                  <a:moveTo>
                    <a:pt x="63855" y="6"/>
                  </a:moveTo>
                  <a:cubicBezTo>
                    <a:pt x="62953" y="-279"/>
                    <a:pt x="65042" y="9172"/>
                    <a:pt x="61860" y="14539"/>
                  </a:cubicBezTo>
                  <a:cubicBezTo>
                    <a:pt x="58678" y="19906"/>
                    <a:pt x="50129" y="27314"/>
                    <a:pt x="44762" y="32206"/>
                  </a:cubicBezTo>
                  <a:cubicBezTo>
                    <a:pt x="39395" y="37098"/>
                    <a:pt x="35026" y="38997"/>
                    <a:pt x="29659" y="43889"/>
                  </a:cubicBezTo>
                  <a:cubicBezTo>
                    <a:pt x="24292" y="48781"/>
                    <a:pt x="16742" y="56318"/>
                    <a:pt x="12562" y="61557"/>
                  </a:cubicBezTo>
                  <a:cubicBezTo>
                    <a:pt x="8383" y="66796"/>
                    <a:pt x="6672" y="69845"/>
                    <a:pt x="4582" y="75321"/>
                  </a:cubicBezTo>
                  <a:cubicBezTo>
                    <a:pt x="2492" y="80797"/>
                    <a:pt x="213" y="87779"/>
                    <a:pt x="23" y="94414"/>
                  </a:cubicBezTo>
                  <a:cubicBezTo>
                    <a:pt x="-167" y="101049"/>
                    <a:pt x="783" y="108067"/>
                    <a:pt x="3443" y="115129"/>
                  </a:cubicBezTo>
                  <a:cubicBezTo>
                    <a:pt x="6103" y="122191"/>
                    <a:pt x="10804" y="130754"/>
                    <a:pt x="15981" y="136786"/>
                  </a:cubicBezTo>
                  <a:cubicBezTo>
                    <a:pt x="21158" y="142818"/>
                    <a:pt x="28330" y="147947"/>
                    <a:pt x="34504" y="151319"/>
                  </a:cubicBezTo>
                  <a:cubicBezTo>
                    <a:pt x="40678" y="154691"/>
                    <a:pt x="48893" y="156353"/>
                    <a:pt x="53025" y="157018"/>
                  </a:cubicBezTo>
                  <a:cubicBezTo>
                    <a:pt x="57157" y="157683"/>
                    <a:pt x="60339" y="156543"/>
                    <a:pt x="59294" y="155308"/>
                  </a:cubicBezTo>
                  <a:cubicBezTo>
                    <a:pt x="58249" y="154073"/>
                    <a:pt x="49796" y="152031"/>
                    <a:pt x="46757" y="149609"/>
                  </a:cubicBezTo>
                  <a:cubicBezTo>
                    <a:pt x="43718" y="147187"/>
                    <a:pt x="41818" y="144385"/>
                    <a:pt x="41058" y="140775"/>
                  </a:cubicBezTo>
                  <a:cubicBezTo>
                    <a:pt x="40298" y="137166"/>
                    <a:pt x="40820" y="132084"/>
                    <a:pt x="42197" y="127952"/>
                  </a:cubicBezTo>
                  <a:cubicBezTo>
                    <a:pt x="43574" y="123820"/>
                    <a:pt x="45238" y="121778"/>
                    <a:pt x="49322" y="115984"/>
                  </a:cubicBezTo>
                  <a:cubicBezTo>
                    <a:pt x="53407" y="110190"/>
                    <a:pt x="61955" y="100311"/>
                    <a:pt x="66704" y="93187"/>
                  </a:cubicBezTo>
                  <a:cubicBezTo>
                    <a:pt x="71453" y="86063"/>
                    <a:pt x="75252" y="79794"/>
                    <a:pt x="77817" y="73240"/>
                  </a:cubicBezTo>
                  <a:cubicBezTo>
                    <a:pt x="80382" y="66686"/>
                    <a:pt x="81902" y="60512"/>
                    <a:pt x="82092" y="53863"/>
                  </a:cubicBezTo>
                  <a:cubicBezTo>
                    <a:pt x="82282" y="47214"/>
                    <a:pt x="79432" y="35293"/>
                    <a:pt x="78957" y="33346"/>
                  </a:cubicBezTo>
                  <a:cubicBezTo>
                    <a:pt x="78482" y="31399"/>
                    <a:pt x="79859" y="38143"/>
                    <a:pt x="79242" y="42180"/>
                  </a:cubicBezTo>
                  <a:cubicBezTo>
                    <a:pt x="78625" y="46217"/>
                    <a:pt x="77913" y="52105"/>
                    <a:pt x="75253" y="57567"/>
                  </a:cubicBezTo>
                  <a:cubicBezTo>
                    <a:pt x="72594" y="63029"/>
                    <a:pt x="67939" y="69963"/>
                    <a:pt x="63285" y="74950"/>
                  </a:cubicBezTo>
                  <a:cubicBezTo>
                    <a:pt x="58631" y="79937"/>
                    <a:pt x="51934" y="85208"/>
                    <a:pt x="47327" y="87488"/>
                  </a:cubicBezTo>
                  <a:cubicBezTo>
                    <a:pt x="42720" y="89768"/>
                    <a:pt x="38826" y="89340"/>
                    <a:pt x="35644" y="88628"/>
                  </a:cubicBezTo>
                  <a:cubicBezTo>
                    <a:pt x="32462" y="87916"/>
                    <a:pt x="29423" y="85826"/>
                    <a:pt x="28235" y="83214"/>
                  </a:cubicBezTo>
                  <a:cubicBezTo>
                    <a:pt x="27048" y="80602"/>
                    <a:pt x="27379" y="76850"/>
                    <a:pt x="28519" y="72955"/>
                  </a:cubicBezTo>
                  <a:cubicBezTo>
                    <a:pt x="29659" y="69061"/>
                    <a:pt x="31702" y="64596"/>
                    <a:pt x="35074" y="59847"/>
                  </a:cubicBezTo>
                  <a:cubicBezTo>
                    <a:pt x="38446" y="55098"/>
                    <a:pt x="44335" y="49208"/>
                    <a:pt x="48752" y="44459"/>
                  </a:cubicBezTo>
                  <a:cubicBezTo>
                    <a:pt x="53169" y="39710"/>
                    <a:pt x="58488" y="36053"/>
                    <a:pt x="61575" y="31351"/>
                  </a:cubicBezTo>
                  <a:cubicBezTo>
                    <a:pt x="64662" y="26649"/>
                    <a:pt x="66894" y="21473"/>
                    <a:pt x="67274" y="16249"/>
                  </a:cubicBezTo>
                  <a:cubicBezTo>
                    <a:pt x="67654" y="11025"/>
                    <a:pt x="64757" y="291"/>
                    <a:pt x="63855" y="6"/>
                  </a:cubicBezTo>
                  <a:close/>
                </a:path>
              </a:pathLst>
            </a:custGeom>
            <a:solidFill>
              <a:srgbClr val="CC0000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5" name="Google Shape;155;p29"/>
            <p:cNvSpPr/>
            <p:nvPr/>
          </p:nvSpPr>
          <p:spPr>
            <a:xfrm>
              <a:off x="6279603" y="1371086"/>
              <a:ext cx="1655900" cy="2919250"/>
            </a:xfrm>
            <a:custGeom>
              <a:rect b="b" l="l" r="r" t="t"/>
              <a:pathLst>
                <a:path extrusionOk="0" h="116770" w="66236">
                  <a:moveTo>
                    <a:pt x="44663" y="21"/>
                  </a:moveTo>
                  <a:cubicBezTo>
                    <a:pt x="44093" y="-501"/>
                    <a:pt x="30460" y="9061"/>
                    <a:pt x="24371" y="14402"/>
                  </a:cubicBezTo>
                  <a:cubicBezTo>
                    <a:pt x="18282" y="19743"/>
                    <a:pt x="11833" y="26750"/>
                    <a:pt x="8128" y="32069"/>
                  </a:cubicBezTo>
                  <a:cubicBezTo>
                    <a:pt x="4424" y="37388"/>
                    <a:pt x="3484" y="41816"/>
                    <a:pt x="2144" y="46317"/>
                  </a:cubicBezTo>
                  <a:cubicBezTo>
                    <a:pt x="804" y="50818"/>
                    <a:pt x="276" y="54707"/>
                    <a:pt x="86" y="59076"/>
                  </a:cubicBezTo>
                  <a:cubicBezTo>
                    <a:pt x="-104" y="63445"/>
                    <a:pt x="-51" y="67678"/>
                    <a:pt x="1004" y="72533"/>
                  </a:cubicBezTo>
                  <a:cubicBezTo>
                    <a:pt x="2059" y="77388"/>
                    <a:pt x="2999" y="82649"/>
                    <a:pt x="6418" y="88206"/>
                  </a:cubicBezTo>
                  <a:cubicBezTo>
                    <a:pt x="9838" y="93763"/>
                    <a:pt x="15632" y="101410"/>
                    <a:pt x="21521" y="105874"/>
                  </a:cubicBezTo>
                  <a:cubicBezTo>
                    <a:pt x="27410" y="110338"/>
                    <a:pt x="34344" y="113187"/>
                    <a:pt x="41753" y="114992"/>
                  </a:cubicBezTo>
                  <a:cubicBezTo>
                    <a:pt x="49162" y="116797"/>
                    <a:pt x="64075" y="116892"/>
                    <a:pt x="65975" y="116702"/>
                  </a:cubicBezTo>
                  <a:cubicBezTo>
                    <a:pt x="67875" y="116512"/>
                    <a:pt x="58994" y="116512"/>
                    <a:pt x="53152" y="113852"/>
                  </a:cubicBezTo>
                  <a:cubicBezTo>
                    <a:pt x="47310" y="111192"/>
                    <a:pt x="36975" y="106381"/>
                    <a:pt x="30925" y="100744"/>
                  </a:cubicBezTo>
                  <a:cubicBezTo>
                    <a:pt x="24875" y="95107"/>
                    <a:pt x="20127" y="87630"/>
                    <a:pt x="16850" y="80031"/>
                  </a:cubicBezTo>
                  <a:cubicBezTo>
                    <a:pt x="13573" y="72432"/>
                    <a:pt x="11339" y="62955"/>
                    <a:pt x="11263" y="55151"/>
                  </a:cubicBezTo>
                  <a:cubicBezTo>
                    <a:pt x="11187" y="47347"/>
                    <a:pt x="13638" y="39478"/>
                    <a:pt x="16392" y="33209"/>
                  </a:cubicBezTo>
                  <a:cubicBezTo>
                    <a:pt x="19147" y="26940"/>
                    <a:pt x="23078" y="23067"/>
                    <a:pt x="27790" y="17536"/>
                  </a:cubicBezTo>
                  <a:cubicBezTo>
                    <a:pt x="32502" y="12005"/>
                    <a:pt x="45233" y="543"/>
                    <a:pt x="44663" y="21"/>
                  </a:cubicBezTo>
                  <a:close/>
                </a:path>
              </a:pathLst>
            </a:custGeom>
            <a:solidFill>
              <a:srgbClr val="FF9900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FireMonkey is Similar to VCL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1257300" y="2000350"/>
            <a:ext cx="122496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Your VCL experience is applicable with FireMonkey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Many of the same components and concepts exist 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It is not a 1:1 mapping of the VCL</a:t>
            </a:r>
            <a:endParaRPr/>
          </a:p>
          <a:p>
            <a:pPr indent="-647700" lvl="2" marL="2743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000"/>
              <a:buChar char="■"/>
            </a:pPr>
            <a:r>
              <a:rPr lang="en"/>
              <a:t>Eg: TLabel.Text instead of TLabel.Caption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Designed to be cross-platform: 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iOS, Android, macOS, &amp; Windows 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Other platforms like Linux via 3rd parties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Cross platform is in its DNA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Still uses the </a:t>
            </a:r>
            <a:r>
              <a:rPr b="1" lang="en"/>
              <a:t>RTL</a:t>
            </a:r>
            <a:r>
              <a:rPr lang="en"/>
              <a:t> you know and love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0"/>
          <p:cNvSpPr/>
          <p:nvPr/>
        </p:nvSpPr>
        <p:spPr>
          <a:xfrm>
            <a:off x="12466950" y="3029350"/>
            <a:ext cx="5206200" cy="5206200"/>
          </a:xfrm>
          <a:prstGeom prst="ellipse">
            <a:avLst/>
          </a:prstGeom>
          <a:solidFill>
            <a:srgbClr val="008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/>
          <p:nvPr/>
        </p:nvSpPr>
        <p:spPr>
          <a:xfrm>
            <a:off x="14577596" y="3914675"/>
            <a:ext cx="2070600" cy="20874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0"/>
          <p:cNvSpPr/>
          <p:nvPr/>
        </p:nvSpPr>
        <p:spPr>
          <a:xfrm>
            <a:off x="13186675" y="4382625"/>
            <a:ext cx="2778600" cy="2407200"/>
          </a:xfrm>
          <a:prstGeom prst="triangle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14283740" y="5070556"/>
            <a:ext cx="2407200" cy="2407200"/>
          </a:xfrm>
          <a:prstGeom prst="ellipse">
            <a:avLst/>
          </a:prstGeom>
          <a:solidFill>
            <a:srgbClr val="CC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400" y="1357823"/>
            <a:ext cx="11663200" cy="88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1"/>
          <p:cNvSpPr txBox="1"/>
          <p:nvPr>
            <p:ph idx="4294967295" type="title"/>
          </p:nvPr>
        </p:nvSpPr>
        <p:spPr>
          <a:xfrm>
            <a:off x="1257300" y="-12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FireMonkey Object Hierarchy </a:t>
            </a:r>
            <a:endParaRPr sz="6000"/>
          </a:p>
        </p:txBody>
      </p:sp>
      <p:sp>
        <p:nvSpPr>
          <p:cNvPr id="172" name="Google Shape;172;p31"/>
          <p:cNvSpPr/>
          <p:nvPr/>
        </p:nvSpPr>
        <p:spPr>
          <a:xfrm>
            <a:off x="8450925" y="3720810"/>
            <a:ext cx="1422600" cy="398700"/>
          </a:xfrm>
          <a:prstGeom prst="roundRect">
            <a:avLst>
              <a:gd fmla="val 50000" name="adj"/>
            </a:avLst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FireMonkey Overview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FireMonkey also includes platform services </a:t>
            </a:r>
            <a:br>
              <a:rPr lang="en"/>
            </a:br>
            <a:r>
              <a:rPr lang="en"/>
              <a:t>and other non-visual components</a:t>
            </a:r>
            <a:endParaRPr/>
          </a:p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Rendered by GPU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Uses DirectX on Windows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OpenGL on macOS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OpenGL ES on iOS &amp; Android 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Many animations and graphical effects</a:t>
            </a:r>
            <a:endParaRPr/>
          </a:p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Check out the Quick Start Guide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docwiki:RAD/FireMonkey_Quick_Start_Guide_-_Introduction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83450" y="2193300"/>
            <a:ext cx="5047249" cy="48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FireMonkey (.FMX) Form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1257300" y="2001200"/>
            <a:ext cx="16595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Uses floating point numbers for positions, sizes, etc.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Supports animation and graphical effects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Very flexible controls: </a:t>
            </a:r>
            <a:r>
              <a:rPr lang="en" sz="3800"/>
              <a:t>You can do more with fewer components</a:t>
            </a:r>
            <a:endParaRPr sz="3800"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Many different layout &amp; alignment options</a:t>
            </a:r>
            <a:endParaRPr sz="3200"/>
          </a:p>
          <a:p>
            <a:pPr indent="-660400" lvl="1" marL="18288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TLayout, TFlowLayout, TGridLayout, TGridPanelLayout, TScrollBox, &amp; TScaledLayout</a:t>
            </a:r>
            <a:endParaRPr sz="3200"/>
          </a:p>
          <a:p>
            <a:pPr indent="-660400" lvl="1" marL="18288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None, Top, Left, Right, Bottom, MostTop, MostBottom, MostLeft, MostRight, Client, Contents, Center, VertCenter, HorzCenter, Horizontal, Vertical, Scale, Fit, FitLeft, FitRight</a:t>
            </a:r>
            <a:endParaRPr sz="3200"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Robust and customizable styling system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All components are nestable: </a:t>
            </a:r>
            <a:r>
              <a:rPr lang="en" sz="3400"/>
              <a:t>Instead of </a:t>
            </a:r>
            <a:r>
              <a:rPr lang="en" sz="3400">
                <a:latin typeface="Roboto Mono"/>
                <a:ea typeface="Roboto Mono"/>
                <a:cs typeface="Roboto Mono"/>
                <a:sym typeface="Roboto Mono"/>
              </a:rPr>
              <a:t>TBitBtn</a:t>
            </a:r>
            <a:r>
              <a:rPr lang="en" sz="3400"/>
              <a:t>, put </a:t>
            </a:r>
            <a:r>
              <a:rPr lang="en" sz="3400">
                <a:latin typeface="Roboto Mono"/>
                <a:ea typeface="Roboto Mono"/>
                <a:cs typeface="Roboto Mono"/>
                <a:sym typeface="Roboto Mono"/>
              </a:rPr>
              <a:t>TImage</a:t>
            </a:r>
            <a:r>
              <a:rPr lang="en" sz="3400"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" sz="3400"/>
              <a:t>on </a:t>
            </a:r>
            <a:r>
              <a:rPr lang="en" sz="3400">
                <a:latin typeface="Quattrocento Sans"/>
                <a:ea typeface="Quattrocento Sans"/>
                <a:cs typeface="Quattrocento Sans"/>
                <a:sym typeface="Quattrocento Sans"/>
              </a:rPr>
              <a:t>TButton</a:t>
            </a:r>
            <a:endParaRPr sz="34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The .FMX file is very similar to a VCL .DFM file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The Enumerated properties are Scoped Enums, and don’t typically have type prefixes </a:t>
            </a:r>
            <a:r>
              <a:rPr lang="en" sz="3400"/>
              <a:t>(i.e. </a:t>
            </a:r>
            <a:r>
              <a:rPr lang="en" sz="3400">
                <a:latin typeface="Roboto Mono"/>
                <a:ea typeface="Roboto Mono"/>
                <a:cs typeface="Roboto Mono"/>
                <a:sym typeface="Roboto Mono"/>
              </a:rPr>
              <a:t>Align</a:t>
            </a:r>
            <a:r>
              <a:rPr lang="en" sz="3400"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" sz="3400"/>
              <a:t>of </a:t>
            </a:r>
            <a:r>
              <a:rPr lang="en" sz="3400">
                <a:latin typeface="Roboto Mono"/>
                <a:ea typeface="Roboto Mono"/>
                <a:cs typeface="Roboto Mono"/>
                <a:sym typeface="Roboto Mono"/>
              </a:rPr>
              <a:t>Client</a:t>
            </a:r>
            <a:r>
              <a:rPr lang="en" sz="3400"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" sz="3400"/>
              <a:t>vs. </a:t>
            </a:r>
            <a:r>
              <a:rPr lang="en" sz="3400">
                <a:latin typeface="Roboto Mono"/>
                <a:ea typeface="Roboto Mono"/>
                <a:cs typeface="Roboto Mono"/>
                <a:sym typeface="Roboto Mono"/>
              </a:rPr>
              <a:t>alClient</a:t>
            </a:r>
            <a:r>
              <a:rPr lang="en" sz="3400"/>
              <a:t>)</a:t>
            </a:r>
            <a:endParaRPr sz="3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FireMonkey Project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1442750" y="6183600"/>
            <a:ext cx="10554000" cy="30678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698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" sz="3800"/>
              <a:t>Listed as “Multi-Device Application”</a:t>
            </a:r>
            <a:endParaRPr sz="3800"/>
          </a:p>
          <a:p>
            <a:pPr indent="-698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" sz="3800"/>
              <a:t>Available for Delphi or C++Builder</a:t>
            </a:r>
            <a:endParaRPr sz="3800"/>
          </a:p>
          <a:p>
            <a:pPr indent="-698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" sz="3800"/>
              <a:t>Presents you a dialog to choose a template </a:t>
            </a:r>
            <a:endParaRPr sz="3800"/>
          </a:p>
          <a:p>
            <a:pPr indent="-698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" sz="3800"/>
              <a:t>In some versions 2D FMX is called HD</a:t>
            </a:r>
            <a:endParaRPr sz="2200"/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3">
            <a:alphaModFix/>
          </a:blip>
          <a:srcRect b="5767" l="0" r="4889" t="0"/>
          <a:stretch/>
        </p:blipFill>
        <p:spPr>
          <a:xfrm>
            <a:off x="2140650" y="1871750"/>
            <a:ext cx="7149001" cy="416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/>
          <p:nvPr/>
        </p:nvSpPr>
        <p:spPr>
          <a:xfrm>
            <a:off x="8737598" y="2655550"/>
            <a:ext cx="1026000" cy="616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4"/>
          <p:cNvSpPr/>
          <p:nvPr/>
        </p:nvSpPr>
        <p:spPr>
          <a:xfrm>
            <a:off x="8737598" y="4530550"/>
            <a:ext cx="1026000" cy="6162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33777" y="720775"/>
            <a:ext cx="5799677" cy="811154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4"/>
          <p:cNvSpPr txBox="1"/>
          <p:nvPr/>
        </p:nvSpPr>
        <p:spPr>
          <a:xfrm>
            <a:off x="10817485" y="8648502"/>
            <a:ext cx="72774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3D FMX applications are different from 2D, &amp; won’t be covered. </a:t>
            </a:r>
            <a:br>
              <a:rPr lang="e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You can learn more about them in the DocWiki though!</a:t>
            </a:r>
            <a:endParaRPr sz="2800"/>
          </a:p>
        </p:txBody>
      </p:sp>
      <p:cxnSp>
        <p:nvCxnSpPr>
          <p:cNvPr id="197" name="Google Shape;197;p34"/>
          <p:cNvCxnSpPr/>
          <p:nvPr/>
        </p:nvCxnSpPr>
        <p:spPr>
          <a:xfrm rot="5400000">
            <a:off x="11512150" y="7693900"/>
            <a:ext cx="1140000" cy="1026000"/>
          </a:xfrm>
          <a:prstGeom prst="curvedConnector3">
            <a:avLst>
              <a:gd fmla="val 7496" name="adj1"/>
            </a:avLst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524" y="1186400"/>
            <a:ext cx="12416953" cy="791420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5"/>
          <p:cNvSpPr txBox="1"/>
          <p:nvPr/>
        </p:nvSpPr>
        <p:spPr>
          <a:xfrm>
            <a:off x="3135800" y="7686750"/>
            <a:ext cx="62106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Messages: </a:t>
            </a:r>
            <a:r>
              <a:rPr lang="en" sz="3200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Compiler output, etc. </a:t>
            </a:r>
            <a:endParaRPr sz="3200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4" name="Google Shape;204;p35"/>
          <p:cNvSpPr txBox="1"/>
          <p:nvPr/>
        </p:nvSpPr>
        <p:spPr>
          <a:xfrm>
            <a:off x="6038700" y="4503900"/>
            <a:ext cx="6210600" cy="1279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9525">
              <a:srgbClr val="000000">
                <a:alpha val="5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FF"/>
                </a:solidFill>
                <a:latin typeface="Economica"/>
                <a:ea typeface="Economica"/>
                <a:cs typeface="Economica"/>
                <a:sym typeface="Economica"/>
              </a:rPr>
              <a:t>Design </a:t>
            </a:r>
            <a:endParaRPr b="1" sz="3600">
              <a:solidFill>
                <a:srgbClr val="FF00FF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FF"/>
                </a:solidFill>
                <a:latin typeface="Economica"/>
                <a:ea typeface="Economica"/>
                <a:cs typeface="Economica"/>
                <a:sym typeface="Economica"/>
              </a:rPr>
              <a:t>Surface</a:t>
            </a:r>
            <a:endParaRPr sz="3600">
              <a:solidFill>
                <a:srgbClr val="FF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205" name="Google Shape;205;p35"/>
          <p:cNvGrpSpPr/>
          <p:nvPr/>
        </p:nvGrpSpPr>
        <p:grpSpPr>
          <a:xfrm>
            <a:off x="14610650" y="2177000"/>
            <a:ext cx="3213550" cy="1755600"/>
            <a:chOff x="7305325" y="1088500"/>
            <a:chExt cx="1606775" cy="877800"/>
          </a:xfrm>
        </p:grpSpPr>
        <p:cxnSp>
          <p:nvCxnSpPr>
            <p:cNvPr id="206" name="Google Shape;206;p35"/>
            <p:cNvCxnSpPr/>
            <p:nvPr/>
          </p:nvCxnSpPr>
          <p:spPr>
            <a:xfrm flipH="1">
              <a:off x="7305325" y="1161200"/>
              <a:ext cx="1350300" cy="105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7" name="Google Shape;207;p35"/>
            <p:cNvSpPr txBox="1"/>
            <p:nvPr/>
          </p:nvSpPr>
          <p:spPr>
            <a:xfrm>
              <a:off x="7772400" y="1088500"/>
              <a:ext cx="1139700" cy="8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Project Manager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Hierarchical view of all files in project or project group</a:t>
              </a:r>
              <a:r>
                <a:rPr lang="en" sz="2600">
                  <a:latin typeface="Economica"/>
                  <a:ea typeface="Economica"/>
                  <a:cs typeface="Economica"/>
                  <a:sym typeface="Economica"/>
                </a:rPr>
                <a:t> </a:t>
              </a:r>
              <a:endParaRPr sz="2600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pSp>
        <p:nvGrpSpPr>
          <p:cNvPr id="208" name="Google Shape;208;p35"/>
          <p:cNvGrpSpPr/>
          <p:nvPr/>
        </p:nvGrpSpPr>
        <p:grpSpPr>
          <a:xfrm>
            <a:off x="14818150" y="4576250"/>
            <a:ext cx="3368150" cy="1992000"/>
            <a:chOff x="7228175" y="1088500"/>
            <a:chExt cx="1684075" cy="996000"/>
          </a:xfrm>
        </p:grpSpPr>
        <p:cxnSp>
          <p:nvCxnSpPr>
            <p:cNvPr id="209" name="Google Shape;209;p35"/>
            <p:cNvCxnSpPr/>
            <p:nvPr/>
          </p:nvCxnSpPr>
          <p:spPr>
            <a:xfrm rot="10800000">
              <a:off x="7228175" y="1229650"/>
              <a:ext cx="405900" cy="4488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0" name="Google Shape;210;p35"/>
            <p:cNvSpPr txBox="1"/>
            <p:nvPr/>
          </p:nvSpPr>
          <p:spPr>
            <a:xfrm>
              <a:off x="7495350" y="1088500"/>
              <a:ext cx="1416900" cy="9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Data Explorer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latin typeface="Economica"/>
                  <a:ea typeface="Economica"/>
                  <a:cs typeface="Economica"/>
                  <a:sym typeface="Economica"/>
                </a:rPr>
                <a:t>Access &amp; explore data sources</a:t>
              </a:r>
              <a:endParaRPr sz="20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Multi-Device Preview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latin typeface="Economica"/>
                  <a:ea typeface="Economica"/>
                  <a:cs typeface="Economica"/>
                  <a:sym typeface="Economica"/>
                </a:rPr>
                <a:t>Preview your UI across different form factors</a:t>
              </a:r>
              <a:endParaRPr sz="2000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pSp>
        <p:nvGrpSpPr>
          <p:cNvPr id="211" name="Google Shape;211;p35"/>
          <p:cNvGrpSpPr/>
          <p:nvPr/>
        </p:nvGrpSpPr>
        <p:grpSpPr>
          <a:xfrm>
            <a:off x="14126100" y="6497050"/>
            <a:ext cx="4182650" cy="3191450"/>
            <a:chOff x="6954475" y="699675"/>
            <a:chExt cx="2091325" cy="1595725"/>
          </a:xfrm>
        </p:grpSpPr>
        <p:cxnSp>
          <p:nvCxnSpPr>
            <p:cNvPr id="212" name="Google Shape;212;p35"/>
            <p:cNvCxnSpPr/>
            <p:nvPr/>
          </p:nvCxnSpPr>
          <p:spPr>
            <a:xfrm rot="10800000">
              <a:off x="6954475" y="699675"/>
              <a:ext cx="819300" cy="4773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3" name="Google Shape;213;p35"/>
            <p:cNvSpPr txBox="1"/>
            <p:nvPr/>
          </p:nvSpPr>
          <p:spPr>
            <a:xfrm>
              <a:off x="7695500" y="1088500"/>
              <a:ext cx="1350300" cy="12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Palette 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Economica"/>
                  <a:ea typeface="Economica"/>
                  <a:cs typeface="Economica"/>
                  <a:sym typeface="Economica"/>
                </a:rPr>
                <a:t>Only shows FireMonkey controls. They might appear disabled if not supported on the current platform.</a:t>
              </a:r>
              <a:endParaRPr sz="2400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pSp>
        <p:nvGrpSpPr>
          <p:cNvPr id="214" name="Google Shape;214;p35"/>
          <p:cNvGrpSpPr/>
          <p:nvPr/>
        </p:nvGrpSpPr>
        <p:grpSpPr>
          <a:xfrm>
            <a:off x="223649" y="2256750"/>
            <a:ext cx="2912164" cy="1755600"/>
            <a:chOff x="7199543" y="1111325"/>
            <a:chExt cx="1456082" cy="877800"/>
          </a:xfrm>
        </p:grpSpPr>
        <p:cxnSp>
          <p:nvCxnSpPr>
            <p:cNvPr id="215" name="Google Shape;215;p35"/>
            <p:cNvCxnSpPr/>
            <p:nvPr/>
          </p:nvCxnSpPr>
          <p:spPr>
            <a:xfrm flipH="1">
              <a:off x="7643425" y="1161200"/>
              <a:ext cx="1012200" cy="42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16" name="Google Shape;216;p35"/>
            <p:cNvSpPr txBox="1"/>
            <p:nvPr/>
          </p:nvSpPr>
          <p:spPr>
            <a:xfrm>
              <a:off x="7199543" y="1111325"/>
              <a:ext cx="1245600" cy="8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Structure view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Hierarchical view of visible and non-visible components on form</a:t>
              </a:r>
              <a:endParaRPr sz="2600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pSp>
        <p:nvGrpSpPr>
          <p:cNvPr id="217" name="Google Shape;217;p35"/>
          <p:cNvGrpSpPr/>
          <p:nvPr/>
        </p:nvGrpSpPr>
        <p:grpSpPr>
          <a:xfrm>
            <a:off x="223650" y="4328300"/>
            <a:ext cx="2912162" cy="3109200"/>
            <a:chOff x="7199544" y="1111325"/>
            <a:chExt cx="1456081" cy="1554600"/>
          </a:xfrm>
        </p:grpSpPr>
        <p:cxnSp>
          <p:nvCxnSpPr>
            <p:cNvPr id="218" name="Google Shape;218;p35"/>
            <p:cNvCxnSpPr/>
            <p:nvPr/>
          </p:nvCxnSpPr>
          <p:spPr>
            <a:xfrm flipH="1">
              <a:off x="7579225" y="1161200"/>
              <a:ext cx="1076400" cy="87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19" name="Google Shape;219;p35"/>
            <p:cNvSpPr txBox="1"/>
            <p:nvPr/>
          </p:nvSpPr>
          <p:spPr>
            <a:xfrm>
              <a:off x="7199544" y="1111325"/>
              <a:ext cx="1245600" cy="155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Object Inspector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View and edit properties and events of selected component(s) or form.</a:t>
              </a:r>
              <a:endParaRPr sz="22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Notice the </a:t>
              </a:r>
              <a:r>
                <a:rPr b="1" lang="en" sz="2200">
                  <a:latin typeface="Economica"/>
                  <a:ea typeface="Economica"/>
                  <a:cs typeface="Economica"/>
                  <a:sym typeface="Economica"/>
                </a:rPr>
                <a:t>TButton</a:t>
              </a: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 has a </a:t>
              </a:r>
              <a:r>
                <a:rPr b="1" lang="en" sz="2200">
                  <a:latin typeface="Economica"/>
                  <a:ea typeface="Economica"/>
                  <a:cs typeface="Economica"/>
                  <a:sym typeface="Economica"/>
                </a:rPr>
                <a:t>Text</a:t>
              </a: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 property instead of </a:t>
              </a:r>
              <a:r>
                <a:rPr b="1" lang="en" sz="2200">
                  <a:latin typeface="Economica"/>
                  <a:ea typeface="Economica"/>
                  <a:cs typeface="Economica"/>
                  <a:sym typeface="Economica"/>
                </a:rPr>
                <a:t>Caption</a:t>
              </a: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, otherwise very similar to </a:t>
              </a:r>
              <a:r>
                <a:rPr b="1" lang="en" sz="2200">
                  <a:latin typeface="Economica"/>
                  <a:ea typeface="Economica"/>
                  <a:cs typeface="Economica"/>
                  <a:sym typeface="Economica"/>
                </a:rPr>
                <a:t>VCL</a:t>
              </a: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.</a:t>
              </a:r>
              <a:endParaRPr sz="2200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grpSp>
        <p:nvGrpSpPr>
          <p:cNvPr id="220" name="Google Shape;220;p35"/>
          <p:cNvGrpSpPr/>
          <p:nvPr/>
        </p:nvGrpSpPr>
        <p:grpSpPr>
          <a:xfrm>
            <a:off x="12210089" y="421400"/>
            <a:ext cx="5796556" cy="1755600"/>
            <a:chOff x="6114075" y="1088500"/>
            <a:chExt cx="2706900" cy="877800"/>
          </a:xfrm>
        </p:grpSpPr>
        <p:cxnSp>
          <p:nvCxnSpPr>
            <p:cNvPr id="221" name="Google Shape;221;p35"/>
            <p:cNvCxnSpPr>
              <a:stCxn id="222" idx="1"/>
            </p:cNvCxnSpPr>
            <p:nvPr/>
          </p:nvCxnSpPr>
          <p:spPr>
            <a:xfrm flipH="1">
              <a:off x="6114075" y="1527400"/>
              <a:ext cx="1567200" cy="2907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2" name="Google Shape;222;p35"/>
            <p:cNvSpPr txBox="1"/>
            <p:nvPr/>
          </p:nvSpPr>
          <p:spPr>
            <a:xfrm>
              <a:off x="7681275" y="1088500"/>
              <a:ext cx="1139700" cy="8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Platform Selector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Economica"/>
                  <a:ea typeface="Economica"/>
                  <a:cs typeface="Economica"/>
                  <a:sym typeface="Economica"/>
                </a:rPr>
                <a:t>Choose target for compiler, and device for deployment.</a:t>
              </a:r>
              <a:endParaRPr sz="2600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23" name="Google Shape;223;p35"/>
          <p:cNvSpPr txBox="1"/>
          <p:nvPr/>
        </p:nvSpPr>
        <p:spPr>
          <a:xfrm>
            <a:off x="11774338" y="750346"/>
            <a:ext cx="18468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IDE Insight</a:t>
            </a:r>
            <a:endParaRPr sz="2800"/>
          </a:p>
        </p:txBody>
      </p:sp>
      <p:sp>
        <p:nvSpPr>
          <p:cNvPr id="224" name="Google Shape;224;p35"/>
          <p:cNvSpPr txBox="1"/>
          <p:nvPr/>
        </p:nvSpPr>
        <p:spPr>
          <a:xfrm>
            <a:off x="10070038" y="750346"/>
            <a:ext cx="18468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Layout</a:t>
            </a:r>
            <a:endParaRPr sz="2800"/>
          </a:p>
        </p:txBody>
      </p:sp>
      <p:sp>
        <p:nvSpPr>
          <p:cNvPr id="225" name="Google Shape;225;p35"/>
          <p:cNvSpPr txBox="1"/>
          <p:nvPr/>
        </p:nvSpPr>
        <p:spPr>
          <a:xfrm>
            <a:off x="8547229" y="750356"/>
            <a:ext cx="18468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Theme</a:t>
            </a:r>
            <a:endParaRPr sz="2800"/>
          </a:p>
        </p:txBody>
      </p:sp>
      <p:sp>
        <p:nvSpPr>
          <p:cNvPr id="226" name="Google Shape;226;p35"/>
          <p:cNvSpPr/>
          <p:nvPr/>
        </p:nvSpPr>
        <p:spPr>
          <a:xfrm>
            <a:off x="10458000" y="6867500"/>
            <a:ext cx="1846800" cy="3990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35"/>
          <p:cNvGrpSpPr/>
          <p:nvPr/>
        </p:nvGrpSpPr>
        <p:grpSpPr>
          <a:xfrm>
            <a:off x="3724500" y="-148935"/>
            <a:ext cx="3186050" cy="2699085"/>
            <a:chOff x="1862250" y="-74468"/>
            <a:chExt cx="1593025" cy="1349543"/>
          </a:xfrm>
        </p:grpSpPr>
        <p:sp>
          <p:nvSpPr>
            <p:cNvPr id="228" name="Google Shape;228;p35"/>
            <p:cNvSpPr txBox="1"/>
            <p:nvPr/>
          </p:nvSpPr>
          <p:spPr>
            <a:xfrm>
              <a:off x="1862250" y="-74468"/>
              <a:ext cx="1350300" cy="76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latin typeface="Economica"/>
                  <a:ea typeface="Economica"/>
                  <a:cs typeface="Economica"/>
                  <a:sym typeface="Economica"/>
                </a:rPr>
                <a:t>Design Style </a:t>
              </a:r>
              <a:endParaRPr b="1" sz="2400">
                <a:latin typeface="Economica"/>
                <a:ea typeface="Economica"/>
                <a:cs typeface="Economica"/>
                <a:sym typeface="Economica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Economica"/>
                  <a:ea typeface="Economica"/>
                  <a:cs typeface="Economica"/>
                  <a:sym typeface="Economica"/>
                </a:rPr>
                <a:t>Platform style to show in designer</a:t>
              </a:r>
              <a:endParaRPr sz="2400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cxnSp>
          <p:nvCxnSpPr>
            <p:cNvPr id="229" name="Google Shape;229;p35"/>
            <p:cNvCxnSpPr/>
            <p:nvPr/>
          </p:nvCxnSpPr>
          <p:spPr>
            <a:xfrm>
              <a:off x="2849575" y="441675"/>
              <a:ext cx="605700" cy="833400"/>
            </a:xfrm>
            <a:prstGeom prst="straightConnector1">
              <a:avLst/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30" name="Google Shape;230;p35"/>
          <p:cNvSpPr txBox="1"/>
          <p:nvPr/>
        </p:nvSpPr>
        <p:spPr>
          <a:xfrm>
            <a:off x="6183600" y="-192800"/>
            <a:ext cx="3035400" cy="15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Custom Views 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Created &amp; edited for specific platforms &amp; form-factors 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1" name="Google Shape;231;p35"/>
          <p:cNvCxnSpPr/>
          <p:nvPr/>
        </p:nvCxnSpPr>
        <p:spPr>
          <a:xfrm>
            <a:off x="7950350" y="1040100"/>
            <a:ext cx="484200" cy="1467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5"/>
          <p:cNvCxnSpPr/>
          <p:nvPr/>
        </p:nvCxnSpPr>
        <p:spPr>
          <a:xfrm>
            <a:off x="2778350" y="1111350"/>
            <a:ext cx="1273800" cy="829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35"/>
          <p:cNvSpPr txBox="1"/>
          <p:nvPr/>
        </p:nvSpPr>
        <p:spPr>
          <a:xfrm>
            <a:off x="968881" y="0"/>
            <a:ext cx="19380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Hide/Show Non-Visual Components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4" name="Google Shape;234;p35"/>
          <p:cNvSpPr/>
          <p:nvPr/>
        </p:nvSpPr>
        <p:spPr>
          <a:xfrm rot="298780">
            <a:off x="13782127" y="4040607"/>
            <a:ext cx="2051647" cy="592781"/>
          </a:xfrm>
          <a:custGeom>
            <a:rect b="b" l="l" r="r" t="t"/>
            <a:pathLst>
              <a:path extrusionOk="0" h="16255" w="41034">
                <a:moveTo>
                  <a:pt x="0" y="15685"/>
                </a:moveTo>
                <a:cubicBezTo>
                  <a:pt x="3467" y="13073"/>
                  <a:pt x="13962" y="-83"/>
                  <a:pt x="20801" y="12"/>
                </a:cubicBezTo>
                <a:cubicBezTo>
                  <a:pt x="27640" y="107"/>
                  <a:pt x="37662" y="13548"/>
                  <a:pt x="41034" y="1625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Platform Default Behavior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Many properties have an option of PlatformDefault value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This will change the value based on the platform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Tab Controls PlatformDefault property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http://embt.co/TutorialTabPages</a:t>
            </a:r>
            <a:r>
              <a:rPr lang="en"/>
              <a:t>  </a:t>
            </a:r>
            <a:endParaRPr/>
          </a:p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The Style can apply properties too based on platform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This is controlled with the StyledSettings property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Settings text parameters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http://embt.co/SettingTextParameters</a:t>
            </a:r>
            <a:r>
              <a:rPr lang="en"/>
              <a:t> </a:t>
            </a:r>
            <a:endParaRPr/>
          </a:p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Change the ControlType property from Styled to Platform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Currently supporting iOS, Android, and Windows coming soon</a:t>
            </a:r>
            <a:endParaRPr/>
          </a:p>
          <a:p>
            <a:pPr indent="-685800" lvl="1" marL="1828800" rtl="0" algn="l">
              <a:spcBef>
                <a:spcPts val="80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More information: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http://embt.co/FMXNative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257300" y="547702"/>
            <a:ext cx="15773400" cy="14532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0">
                <a:latin typeface="Quattrocento Sans"/>
                <a:ea typeface="Quattrocento Sans"/>
                <a:cs typeface="Quattrocento Sans"/>
                <a:sym typeface="Quattrocento Sans"/>
              </a:rPr>
              <a:t>Lab</a:t>
            </a:r>
            <a:r>
              <a:rPr lang="en" sz="9000">
                <a:latin typeface="Quattrocento Sans"/>
                <a:ea typeface="Quattrocento Sans"/>
                <a:cs typeface="Quattrocento Sans"/>
                <a:sym typeface="Quattrocento Sans"/>
              </a:rPr>
              <a:t> - Hello </a:t>
            </a:r>
            <a:r>
              <a:rPr b="1" lang="en" sz="90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Fire</a:t>
            </a:r>
            <a:r>
              <a:rPr b="1" lang="en" sz="9000">
                <a:solidFill>
                  <a:srgbClr val="FF99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Monkey</a:t>
            </a:r>
            <a:endParaRPr sz="90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1257300" y="2001200"/>
            <a:ext cx="12275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685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Create a FireMonkey app for Windows</a:t>
            </a:r>
            <a:endParaRPr sz="3600"/>
          </a:p>
          <a:p>
            <a:pPr indent="-685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Add a TTabControl, then right click and “Add TTabltem”</a:t>
            </a:r>
            <a:endParaRPr sz="3600"/>
          </a:p>
          <a:p>
            <a:pPr indent="-685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Include TLabel, TButton, TEdit, &amp; TListBox on one of the TTabItems</a:t>
            </a:r>
            <a:endParaRPr sz="3600"/>
          </a:p>
          <a:p>
            <a:pPr indent="-685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Notice TLabel &amp; TButton have </a:t>
            </a:r>
            <a:r>
              <a:rPr b="1" lang="en" sz="3600"/>
              <a:t>Text </a:t>
            </a:r>
            <a:r>
              <a:rPr lang="en" sz="3600"/>
              <a:t>instead of </a:t>
            </a:r>
            <a:r>
              <a:rPr b="1" lang="en" sz="3600"/>
              <a:t>Caption </a:t>
            </a:r>
            <a:r>
              <a:rPr lang="en" sz="3600"/>
              <a:t>properties</a:t>
            </a:r>
            <a:endParaRPr sz="3600"/>
          </a:p>
          <a:p>
            <a:pPr indent="-685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Notice the TTabControl has TabPosition of PlatformDefault</a:t>
            </a:r>
            <a:endParaRPr sz="3600"/>
          </a:p>
          <a:p>
            <a:pPr indent="-685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In the OnClick event handler add the following code:</a:t>
            </a:r>
            <a:endParaRPr sz="3600"/>
          </a:p>
          <a:p>
            <a:pPr indent="-685800" lvl="1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3600"/>
              <a:buFont typeface="Roboto Mono"/>
              <a:buChar char="○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ListBox1.Items.Add(Edit1.Text);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685800" lvl="0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Compile and run your app on Windows</a:t>
            </a:r>
            <a:endParaRPr sz="3600"/>
          </a:p>
        </p:txBody>
      </p:sp>
      <p:grpSp>
        <p:nvGrpSpPr>
          <p:cNvPr id="247" name="Google Shape;247;p37"/>
          <p:cNvGrpSpPr/>
          <p:nvPr/>
        </p:nvGrpSpPr>
        <p:grpSpPr>
          <a:xfrm>
            <a:off x="12518650" y="2001200"/>
            <a:ext cx="5534751" cy="7047698"/>
            <a:chOff x="6259325" y="1000600"/>
            <a:chExt cx="2767375" cy="3523849"/>
          </a:xfrm>
        </p:grpSpPr>
        <p:pic>
          <p:nvPicPr>
            <p:cNvPr id="248" name="Google Shape;2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59325" y="1000600"/>
              <a:ext cx="2767375" cy="3523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16721" y="2741929"/>
              <a:ext cx="1652583" cy="1545378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FFFFFF">
                  <a:alpha val="0"/>
                </a:srgbClr>
              </a:outerShdw>
            </a:effectLst>
          </p:spPr>
        </p:pic>
      </p:grpSp>
      <p:sp>
        <p:nvSpPr>
          <p:cNvPr id="250" name="Google Shape;250;p37"/>
          <p:cNvSpPr txBox="1"/>
          <p:nvPr/>
        </p:nvSpPr>
        <p:spPr>
          <a:xfrm>
            <a:off x="13634476" y="8689256"/>
            <a:ext cx="4729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Beaker image https://pixabay.com/photo-23417/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FireMonkey Platform Services</a:t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A FireMonkey interface that defines functionality that might or might not be implemented on a particular run-time platform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Allows for different functionality and implementation per platform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FireMonkey implements over 50 platform services</a:t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You can implement your own platform services</a:t>
            </a:r>
            <a:endParaRPr/>
          </a:p>
          <a:p>
            <a:pPr indent="-6858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</a:pPr>
            <a:r>
              <a:rPr lang="en"/>
              <a:t>Use TPlatformServices.AddPlatformService and TPlatformServices.RemovePlatformService </a:t>
            </a:r>
            <a:endParaRPr/>
          </a:p>
          <a:p>
            <a:pPr indent="-6985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Char char="○"/>
            </a:pPr>
            <a:r>
              <a:rPr lang="en" sz="3800"/>
              <a:t>For example, you can unregister one of the built-in platform services and replace it with a new implementation of the platform service that is tailored to fit your needs.</a:t>
            </a:r>
            <a:endParaRPr sz="38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</a:pPr>
            <a:r>
              <a:rPr lang="en"/>
              <a:t>More information on Platform Services</a:t>
            </a:r>
            <a:r>
              <a:rPr lang="en" sz="3600"/>
              <a:t> </a:t>
            </a:r>
            <a:r>
              <a:rPr lang="en" sz="3600" u="sng">
                <a:solidFill>
                  <a:schemeClr val="hlink"/>
                </a:solidFill>
                <a:hlinkClick r:id="rId3"/>
              </a:rPr>
              <a:t>http://embt.co/PlatformServices</a:t>
            </a:r>
            <a:r>
              <a:rPr lang="en" sz="3600"/>
              <a:t> 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00">
                <a:latin typeface="Quattrocento Sans"/>
                <a:ea typeface="Quattrocento Sans"/>
                <a:cs typeface="Quattrocento Sans"/>
                <a:sym typeface="Quattrocento Sans"/>
              </a:rPr>
              <a:t>Lab</a:t>
            </a:r>
            <a:r>
              <a:rPr lang="en" sz="7800">
                <a:latin typeface="Quattrocento Sans"/>
                <a:ea typeface="Quattrocento Sans"/>
                <a:cs typeface="Quattrocento Sans"/>
                <a:sym typeface="Quattrocento Sans"/>
              </a:rPr>
              <a:t> - </a:t>
            </a:r>
            <a:r>
              <a:rPr b="1" lang="en" sz="78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Fire</a:t>
            </a:r>
            <a:r>
              <a:rPr b="1" lang="en" sz="7800">
                <a:solidFill>
                  <a:srgbClr val="FF99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Monkey </a:t>
            </a:r>
            <a:r>
              <a:rPr lang="en" sz="7800">
                <a:latin typeface="Quattrocento Sans"/>
                <a:ea typeface="Quattrocento Sans"/>
                <a:cs typeface="Quattrocento Sans"/>
                <a:sym typeface="Quattrocento Sans"/>
              </a:rPr>
              <a:t>Platform Services</a:t>
            </a:r>
            <a:endParaRPr sz="5400"/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1257300" y="2001200"/>
            <a:ext cx="117672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673100" lvl="0" marL="914400" rtl="0" algn="l">
              <a:spcBef>
                <a:spcPts val="1600"/>
              </a:spcBef>
              <a:spcAft>
                <a:spcPts val="0"/>
              </a:spcAft>
              <a:buSzPts val="3400"/>
              <a:buChar char="•"/>
            </a:pPr>
            <a:r>
              <a:rPr lang="en" sz="3400"/>
              <a:t>Working with your lab from earlier, add Clipboard support</a:t>
            </a:r>
            <a:endParaRPr sz="3400"/>
          </a:p>
          <a:p>
            <a:pPr indent="-673100" lvl="0" marL="914400" rtl="0" algn="l">
              <a:spcBef>
                <a:spcPts val="0"/>
              </a:spcBef>
              <a:spcAft>
                <a:spcPts val="0"/>
              </a:spcAft>
              <a:buSzPts val="3400"/>
              <a:buChar char="•"/>
            </a:pPr>
            <a:r>
              <a:rPr lang="en" sz="3400"/>
              <a:t>Take a look at </a:t>
            </a:r>
            <a:r>
              <a:rPr lang="en" sz="3400" u="sng">
                <a:solidFill>
                  <a:schemeClr val="hlink"/>
                </a:solidFill>
                <a:hlinkClick r:id="rId3"/>
              </a:rPr>
              <a:t>http://embt.co/PlatformServices</a:t>
            </a:r>
            <a:r>
              <a:rPr lang="en" sz="3400"/>
              <a:t>  </a:t>
            </a:r>
            <a:endParaRPr sz="3400"/>
          </a:p>
          <a:p>
            <a:pPr indent="-673100" lvl="0" marL="914400" rtl="0" algn="l">
              <a:spcBef>
                <a:spcPts val="0"/>
              </a:spcBef>
              <a:spcAft>
                <a:spcPts val="0"/>
              </a:spcAft>
              <a:buSzPts val="3400"/>
              <a:buChar char="•"/>
            </a:pPr>
            <a:r>
              <a:rPr lang="en" sz="3400"/>
              <a:t>Add FMX.Platform &amp; FMX.Clipboard to your uses clause</a:t>
            </a:r>
            <a:endParaRPr sz="3400"/>
          </a:p>
          <a:p>
            <a:pPr indent="-673100" lvl="0" marL="914400" rtl="0" algn="l">
              <a:spcBef>
                <a:spcPts val="0"/>
              </a:spcBef>
              <a:spcAft>
                <a:spcPts val="0"/>
              </a:spcAft>
              <a:buSzPts val="3400"/>
              <a:buChar char="•"/>
            </a:pPr>
            <a:r>
              <a:rPr lang="en" sz="3400"/>
              <a:t>Interact with the clipboard via Platform Services</a:t>
            </a:r>
            <a:endParaRPr sz="3400"/>
          </a:p>
        </p:txBody>
      </p:sp>
      <p:sp>
        <p:nvSpPr>
          <p:cNvPr id="263" name="Google Shape;263;p39"/>
          <p:cNvSpPr txBox="1"/>
          <p:nvPr/>
        </p:nvSpPr>
        <p:spPr>
          <a:xfrm>
            <a:off x="13128856" y="8253600"/>
            <a:ext cx="5205000" cy="13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Clipboard image https://pixabay.com/photo-155885/</a:t>
            </a:r>
            <a:endParaRPr sz="1600"/>
          </a:p>
        </p:txBody>
      </p:sp>
      <p:grpSp>
        <p:nvGrpSpPr>
          <p:cNvPr id="264" name="Google Shape;264;p39"/>
          <p:cNvGrpSpPr/>
          <p:nvPr/>
        </p:nvGrpSpPr>
        <p:grpSpPr>
          <a:xfrm>
            <a:off x="12732875" y="2001102"/>
            <a:ext cx="5442437" cy="7320701"/>
            <a:chOff x="6512237" y="1153000"/>
            <a:chExt cx="2499512" cy="3508099"/>
          </a:xfrm>
        </p:grpSpPr>
        <p:pic>
          <p:nvPicPr>
            <p:cNvPr id="265" name="Google Shape;265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2237" y="1153000"/>
              <a:ext cx="2499512" cy="3508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39"/>
            <p:cNvPicPr preferRelativeResize="0"/>
            <p:nvPr/>
          </p:nvPicPr>
          <p:blipFill>
            <a:blip r:embed="rId5">
              <a:alphaModFix amt="76000"/>
            </a:blip>
            <a:stretch>
              <a:fillRect/>
            </a:stretch>
          </p:blipFill>
          <p:spPr>
            <a:xfrm>
              <a:off x="7077749" y="2268948"/>
              <a:ext cx="1524525" cy="1941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39"/>
          <p:cNvSpPr txBox="1"/>
          <p:nvPr/>
        </p:nvSpPr>
        <p:spPr>
          <a:xfrm>
            <a:off x="2308100" y="4511650"/>
            <a:ext cx="8804400" cy="4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uses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FMX.Platform, FMX.Clipboard;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procedure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TFormFMXLab2.Button2Click</a:t>
            </a:r>
            <a:r>
              <a:rPr lang="en" sz="1800">
                <a:solidFill>
                  <a:srgbClr val="5C2699"/>
                </a:solidFill>
                <a:latin typeface="Roboto Mono"/>
                <a:ea typeface="Roboto Mono"/>
                <a:cs typeface="Roboto Mono"/>
                <a:sym typeface="Roboto Mono"/>
              </a:rPr>
              <a:t>(Sender: TObject)</a:t>
            </a:r>
            <a:r>
              <a:rPr lang="en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ClipboardService: IFMXExtendedClipboardService;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begin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TPlatformServices.Current.SupportsPlatformService(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	IFMXExtendedClipboardService, ClipboardService) 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begin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ClipboardService.HasText </a:t>
            </a: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ListBox1.Items.Add(ClipboardService.GetText);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ClipboardService.SetText(</a:t>
            </a:r>
            <a:r>
              <a:rPr lang="en" sz="1800">
                <a:solidFill>
                  <a:srgbClr val="C41A16"/>
                </a:solidFill>
                <a:latin typeface="Roboto Mono"/>
                <a:ea typeface="Roboto Mono"/>
                <a:cs typeface="Roboto Mono"/>
                <a:sym typeface="Roboto Mono"/>
              </a:rPr>
              <a:t>'Hello FireMonkey'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rgbClr val="AA0D91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2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0"/>
          <p:cNvPicPr preferRelativeResize="0"/>
          <p:nvPr/>
        </p:nvPicPr>
        <p:blipFill rotWithShape="1">
          <a:blip r:embed="rId3">
            <a:alphaModFix/>
          </a:blip>
          <a:srcRect b="0" l="0" r="13956" t="0"/>
          <a:stretch/>
        </p:blipFill>
        <p:spPr>
          <a:xfrm>
            <a:off x="11593349" y="1345100"/>
            <a:ext cx="6327901" cy="72642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FireUI Device Views</a:t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1257300" y="2001200"/>
            <a:ext cx="10814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698500" lvl="0" marL="914400" rtl="0" algn="l">
              <a:spcBef>
                <a:spcPts val="1600"/>
              </a:spcBef>
              <a:spcAft>
                <a:spcPts val="0"/>
              </a:spcAft>
              <a:buSzPts val="3800"/>
              <a:buChar char="●"/>
            </a:pPr>
            <a:r>
              <a:rPr lang="en" sz="3800"/>
              <a:t>Allows you to add platform specific customized views to your layout</a:t>
            </a:r>
            <a:endParaRPr sz="3800"/>
          </a:p>
          <a:p>
            <a:pPr indent="-698500" lvl="0" marL="914400" rtl="0" algn="l">
              <a:spcBef>
                <a:spcPts val="1600"/>
              </a:spcBef>
              <a:spcAft>
                <a:spcPts val="0"/>
              </a:spcAft>
              <a:buSzPts val="3800"/>
              <a:buChar char="●"/>
            </a:pPr>
            <a:r>
              <a:rPr lang="en" sz="3800"/>
              <a:t>Each device specific view is a collection of changes to the master view</a:t>
            </a:r>
            <a:endParaRPr sz="3800"/>
          </a:p>
          <a:p>
            <a:pPr indent="-698500" lvl="0" marL="914400" rtl="0" algn="l">
              <a:spcBef>
                <a:spcPts val="1600"/>
              </a:spcBef>
              <a:spcAft>
                <a:spcPts val="0"/>
              </a:spcAft>
              <a:buSzPts val="3800"/>
              <a:buChar char="●"/>
            </a:pPr>
            <a:r>
              <a:rPr lang="en" sz="3800"/>
              <a:t>Allows for customization based on OS, form factor, etc.</a:t>
            </a:r>
            <a:endParaRPr sz="3800"/>
          </a:p>
          <a:p>
            <a:pPr indent="-698500" lvl="0" marL="914400" rtl="0" algn="l">
              <a:spcBef>
                <a:spcPts val="1600"/>
              </a:spcBef>
              <a:spcAft>
                <a:spcPts val="0"/>
              </a:spcAft>
              <a:buSzPts val="3800"/>
              <a:buChar char="●"/>
            </a:pPr>
            <a:r>
              <a:rPr lang="en" sz="3800"/>
              <a:t>Easily customize to add your own devices</a:t>
            </a:r>
            <a:endParaRPr sz="3800"/>
          </a:p>
          <a:p>
            <a:pPr indent="-698500" lvl="0" marL="914400" rtl="0" algn="l">
              <a:spcBef>
                <a:spcPts val="1600"/>
              </a:spcBef>
              <a:spcAft>
                <a:spcPts val="0"/>
              </a:spcAft>
              <a:buSzPts val="3800"/>
              <a:buChar char="●"/>
            </a:pPr>
            <a:r>
              <a:rPr lang="en" sz="3800"/>
              <a:t>At runtime the closest view is automatically used</a:t>
            </a:r>
            <a:endParaRPr sz="3400"/>
          </a:p>
        </p:txBody>
      </p:sp>
      <p:sp>
        <p:nvSpPr>
          <p:cNvPr id="275" name="Google Shape;275;p40"/>
          <p:cNvSpPr txBox="1"/>
          <p:nvPr/>
        </p:nvSpPr>
        <p:spPr>
          <a:xfrm>
            <a:off x="7320500" y="8143950"/>
            <a:ext cx="10967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docwiki:RAD/Using_FireMonkey_Views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FireUI Multi-Device Preview </a:t>
            </a:r>
            <a:endParaRPr/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Accessible via: View &gt; Tool Windows &gt; Multi-Device Preview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 u="sng">
                <a:solidFill>
                  <a:schemeClr val="hlink"/>
                </a:solidFill>
                <a:hlinkClick r:id="rId3"/>
              </a:rPr>
              <a:t>docwiki:RAD/Multi-Device_Preview</a:t>
            </a:r>
            <a:endParaRPr/>
          </a:p>
        </p:txBody>
      </p:sp>
      <p:pic>
        <p:nvPicPr>
          <p:cNvPr id="282" name="Google Shape;2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2318" y="2800750"/>
            <a:ext cx="11250700" cy="574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0373" y="2001200"/>
            <a:ext cx="10167628" cy="726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2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FireUI Live Preview</a:t>
            </a:r>
            <a:endParaRPr/>
          </a:p>
        </p:txBody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1257300" y="2001200"/>
            <a:ext cx="71166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Live UI preview on physical device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Uses app tethering technology to connect over local network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Preview app available via the app store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Recompile from code to add custom components</a:t>
            </a:r>
            <a:endParaRPr/>
          </a:p>
          <a:p>
            <a:pPr indent="0" lvl="0" marL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4"/>
              </a:rPr>
              <a:t>docwiki:RAD/FireUI_Live_Preview</a:t>
            </a:r>
            <a:r>
              <a:rPr lang="en" sz="3000"/>
              <a:t> </a:t>
            </a:r>
            <a:endParaRPr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Databases</a:t>
            </a:r>
            <a:endParaRPr/>
          </a:p>
        </p:txBody>
      </p:sp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•"/>
            </a:pPr>
            <a:r>
              <a:rPr i="1" lang="en"/>
              <a:t>(Just an introduction - more on this later)</a:t>
            </a:r>
            <a:endParaRPr i="1"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FireMonkey works with any database components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FireDAC is the new, high performance, cross platform, multi-database component framework that is included “in the box”</a:t>
            </a:r>
            <a:endParaRPr/>
          </a:p>
          <a:p>
            <a:pPr indent="-685800" lvl="1" marL="18288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On mobile FireDAC supports SQLite, IBLite</a:t>
            </a:r>
            <a:r>
              <a:rPr lang="en" sz="3400"/>
              <a:t> (Free)</a:t>
            </a:r>
            <a:r>
              <a:rPr lang="en"/>
              <a:t>, &amp; IBToGo </a:t>
            </a:r>
            <a:br>
              <a:rPr lang="en"/>
            </a:br>
            <a:r>
              <a:rPr lang="en" sz="3400"/>
              <a:t>(IBToGo adds encryption and more for a license fee)</a:t>
            </a:r>
            <a:endParaRPr sz="3400"/>
          </a:p>
          <a:p>
            <a:pPr indent="-685800" lvl="1" marL="18288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FireDAC Overview: </a:t>
            </a:r>
            <a:r>
              <a:rPr lang="en" u="sng">
                <a:solidFill>
                  <a:schemeClr val="hlink"/>
                </a:solidFill>
                <a:hlinkClick r:id="rId3"/>
              </a:rPr>
              <a:t>embt.co/FireDACOverview</a:t>
            </a:r>
            <a:r>
              <a:rPr lang="en"/>
              <a:t> </a:t>
            </a:r>
            <a:endParaRPr/>
          </a:p>
          <a:p>
            <a:pPr indent="-685800" lvl="1" marL="18288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FireDAC Mobile Tutorial: </a:t>
            </a:r>
            <a:r>
              <a:rPr lang="en" u="sng">
                <a:solidFill>
                  <a:schemeClr val="hlink"/>
                </a:solidFill>
                <a:hlinkClick r:id="rId4"/>
              </a:rPr>
              <a:t>embt.co/FireDACMobile</a:t>
            </a:r>
            <a:r>
              <a:rPr lang="en"/>
              <a:t>  </a:t>
            </a:r>
            <a:endParaRPr/>
          </a:p>
          <a:p>
            <a:pPr indent="-723900" lvl="0" marL="9144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FireMonkey doesn’t have specific data aware controls, instead any component can be connected to any data via LiveBindings</a:t>
            </a:r>
            <a:endParaRPr/>
          </a:p>
          <a:p>
            <a:pPr indent="-685800" lvl="1" marL="18288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5"/>
              </a:rPr>
              <a:t>embt.co/LiveBindings</a:t>
            </a:r>
            <a:r>
              <a:rPr lang="en"/>
              <a:t>   </a:t>
            </a:r>
            <a:endParaRPr/>
          </a:p>
        </p:txBody>
      </p:sp>
      <p:pic>
        <p:nvPicPr>
          <p:cNvPr id="296" name="Google Shape;29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12300" y="779650"/>
            <a:ext cx="3078600" cy="30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00">
                <a:latin typeface="Quattrocento Sans"/>
                <a:ea typeface="Quattrocento Sans"/>
                <a:cs typeface="Quattrocento Sans"/>
                <a:sym typeface="Quattrocento Sans"/>
              </a:rPr>
              <a:t>Lab</a:t>
            </a:r>
            <a:r>
              <a:rPr lang="en" sz="7800">
                <a:latin typeface="Quattrocento Sans"/>
                <a:ea typeface="Quattrocento Sans"/>
                <a:cs typeface="Quattrocento Sans"/>
                <a:sym typeface="Quattrocento Sans"/>
              </a:rPr>
              <a:t> - </a:t>
            </a:r>
            <a:r>
              <a:rPr b="1" lang="en" sz="780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Fire</a:t>
            </a:r>
            <a:r>
              <a:rPr b="1" lang="en" sz="7800">
                <a:solidFill>
                  <a:srgbClr val="FF99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Monkey </a:t>
            </a:r>
            <a:r>
              <a:rPr lang="en" sz="7800">
                <a:latin typeface="Quattrocento Sans"/>
                <a:ea typeface="Quattrocento Sans"/>
                <a:cs typeface="Quattrocento Sans"/>
                <a:sym typeface="Quattrocento Sans"/>
              </a:rPr>
              <a:t>LiveBindings</a:t>
            </a:r>
            <a:endParaRPr/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1257300" y="2001200"/>
            <a:ext cx="108108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698500" lvl="0" marL="914400" rtl="0" algn="l">
              <a:spcBef>
                <a:spcPts val="1600"/>
              </a:spcBef>
              <a:spcAft>
                <a:spcPts val="0"/>
              </a:spcAft>
              <a:buSzPts val="3800"/>
              <a:buChar char="•"/>
            </a:pPr>
            <a:r>
              <a:rPr lang="en" sz="3800"/>
              <a:t>Add a TPrototypeBindSource</a:t>
            </a:r>
            <a:endParaRPr sz="3800"/>
          </a:p>
          <a:p>
            <a:pPr indent="-660400" lvl="1" marL="18288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Dbl Click -&gt; Add ContactBitmapsL &amp; ContactNames</a:t>
            </a:r>
            <a:endParaRPr sz="3200"/>
          </a:p>
          <a:p>
            <a:pPr indent="-698500" lvl="0" marL="9144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" sz="3800"/>
              <a:t>Add TListView</a:t>
            </a:r>
            <a:endParaRPr sz="3800"/>
          </a:p>
          <a:p>
            <a:pPr indent="-660400" lvl="1" marL="18288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Find the ItemAppearance.ItemAppearance property</a:t>
            </a:r>
            <a:endParaRPr sz="3200"/>
          </a:p>
          <a:p>
            <a:pPr indent="-660400" lvl="2" marL="2743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Change it from ListItem to ImageListItem</a:t>
            </a:r>
            <a:endParaRPr sz="3200"/>
          </a:p>
          <a:p>
            <a:pPr indent="-660400" lvl="1" marL="18288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Set ItemAppearanceObjects.ItemObjects.Visible to False</a:t>
            </a:r>
            <a:endParaRPr sz="2600"/>
          </a:p>
          <a:p>
            <a:pPr indent="-698500" lvl="0" marL="914400" rtl="0" algn="l">
              <a:spcBef>
                <a:spcPts val="0"/>
              </a:spcBef>
              <a:spcAft>
                <a:spcPts val="0"/>
              </a:spcAft>
              <a:buSzPts val="3800"/>
              <a:buChar char="•"/>
            </a:pPr>
            <a:r>
              <a:rPr lang="en" sz="3800"/>
              <a:t>Right Click ListView1 -&gt; Bind Visually…</a:t>
            </a:r>
            <a:endParaRPr sz="3800"/>
          </a:p>
          <a:p>
            <a:pPr indent="-660400" lvl="1" marL="18288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Connect:</a:t>
            </a:r>
            <a:endParaRPr sz="3200"/>
          </a:p>
          <a:p>
            <a:pPr indent="-660400" lvl="2" marL="2743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Sync -&gt; *</a:t>
            </a:r>
            <a:endParaRPr sz="3200"/>
          </a:p>
          <a:p>
            <a:pPr indent="-660400" lvl="2" marL="2743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Item.Text -&gt; ContactName1</a:t>
            </a:r>
            <a:endParaRPr sz="3200"/>
          </a:p>
          <a:p>
            <a:pPr indent="-660400" lvl="2" marL="2743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" sz="3200"/>
              <a:t>Item.Bitmap -&gt; ContactBitmatL1</a:t>
            </a:r>
            <a:endParaRPr sz="3800"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2900" y="2099288"/>
            <a:ext cx="5610301" cy="393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91200" y="4265000"/>
            <a:ext cx="3790500" cy="48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0237" y="1725100"/>
            <a:ext cx="11687526" cy="584374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5"/>
          <p:cNvSpPr txBox="1"/>
          <p:nvPr/>
        </p:nvSpPr>
        <p:spPr>
          <a:xfrm>
            <a:off x="4709700" y="8314900"/>
            <a:ext cx="88686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>
                <a:solidFill>
                  <a:schemeClr val="hlink"/>
                </a:solidFill>
                <a:hlinkClick r:id="rId4"/>
              </a:rPr>
              <a:t>delphi.org/2016/10/firemonkey-vs-vcl/</a:t>
            </a:r>
            <a:endParaRPr sz="3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FireMonkey UI</a:t>
            </a:r>
            <a:endParaRPr/>
          </a:p>
        </p:txBody>
      </p:sp>
      <p:sp>
        <p:nvSpPr>
          <p:cNvPr id="316" name="Google Shape;316;p46"/>
          <p:cNvSpPr txBox="1"/>
          <p:nvPr>
            <p:ph idx="1" type="body"/>
          </p:nvPr>
        </p:nvSpPr>
        <p:spPr>
          <a:xfrm>
            <a:off x="1257300" y="2001208"/>
            <a:ext cx="157734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495300" lvl="0" marL="457200" rtl="0" algn="l">
              <a:spcBef>
                <a:spcPts val="16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More on layouts and UIs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https://embt.co/MoreFmxUI</a:t>
            </a:r>
            <a:r>
              <a:rPr lang="en"/>
              <a:t> </a:t>
            </a:r>
            <a:endParaRPr/>
          </a:p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DocWiki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4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5"/>
              </a:rPr>
              <a:t>FireMonkey</a:t>
            </a:r>
            <a:r>
              <a:rPr b="1" lang="en"/>
              <a:t> </a:t>
            </a:r>
            <a:r>
              <a:rPr lang="en"/>
              <a:t> 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6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7"/>
              </a:rPr>
              <a:t>FireMonkey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8"/>
              </a:rPr>
              <a:t>_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9"/>
              </a:rPr>
              <a:t>Quick_Start_Guide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10"/>
              </a:rPr>
              <a:t>_-_Introduction</a:t>
            </a:r>
            <a:r>
              <a:rPr lang="en"/>
              <a:t> 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11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12"/>
              </a:rPr>
              <a:t>FireMonkey_Components_Guide</a:t>
            </a:r>
            <a:r>
              <a:rPr lang="en"/>
              <a:t> 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13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14"/>
              </a:rPr>
              <a:t>FireMonkey_Applications_Guide</a:t>
            </a:r>
            <a:r>
              <a:rPr b="1" lang="en"/>
              <a:t> </a:t>
            </a:r>
            <a:endParaRPr b="1"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15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16"/>
              </a:rPr>
              <a:t>Multi-Device_Applications_Index</a:t>
            </a:r>
            <a:r>
              <a:rPr b="1" lang="en"/>
              <a:t> 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17"/>
              </a:rPr>
              <a:t>docwiki:RADStudio/</a:t>
            </a:r>
            <a:r>
              <a:rPr b="1" lang="en" u="sng">
                <a:solidFill>
                  <a:schemeClr val="hlink"/>
                </a:solidFill>
                <a:hlinkClick r:id="rId18"/>
              </a:rPr>
              <a:t>FireMonkey_Tutorials</a:t>
            </a:r>
            <a:r>
              <a:rPr b="1" lang="en"/>
              <a:t> </a:t>
            </a:r>
            <a:endParaRPr b="1"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19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20"/>
              </a:rPr>
              <a:t>FireMonkey_3D</a:t>
            </a:r>
            <a:endParaRPr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21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22"/>
              </a:rPr>
              <a:t>Tutorial:_Creating_a_FireMonkey_3D_Application</a:t>
            </a:r>
            <a:r>
              <a:rPr b="1" lang="en"/>
              <a:t> </a:t>
            </a:r>
            <a:endParaRPr b="1"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23"/>
              </a:rPr>
              <a:t>docwiki:RADStudio/</a:t>
            </a:r>
            <a:r>
              <a:rPr b="1" lang="en">
                <a:solidFill>
                  <a:schemeClr val="hlink"/>
                </a:solidFill>
                <a:uFill>
                  <a:noFill/>
                </a:uFill>
                <a:hlinkClick r:id="rId24"/>
              </a:rPr>
              <a:t>FireMonkey_Component_Library</a:t>
            </a:r>
            <a:r>
              <a:rPr b="1" lang="en"/>
              <a:t> </a:t>
            </a:r>
            <a:endParaRPr b="1"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" u="sng">
                <a:solidFill>
                  <a:schemeClr val="hlink"/>
                </a:solidFill>
                <a:hlinkClick r:id="rId25"/>
              </a:rPr>
              <a:t>docwiki:Libraries/</a:t>
            </a:r>
            <a:r>
              <a:rPr b="1" lang="en" u="sng">
                <a:solidFill>
                  <a:schemeClr val="hlink"/>
                </a:solidFill>
                <a:hlinkClick r:id="rId26"/>
              </a:rPr>
              <a:t>FMX</a:t>
            </a:r>
            <a:r>
              <a:rPr b="1" lang="en"/>
              <a:t> Unit List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>
            <p:ph type="title"/>
          </p:nvPr>
        </p:nvSpPr>
        <p:spPr>
          <a:xfrm>
            <a:off x="1257300" y="547688"/>
            <a:ext cx="15773400" cy="1246800"/>
          </a:xfrm>
          <a:prstGeom prst="rect">
            <a:avLst/>
          </a:prstGeom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 this section we covered</a:t>
            </a:r>
            <a:endParaRPr i="1"/>
          </a:p>
        </p:txBody>
      </p:sp>
      <p:sp>
        <p:nvSpPr>
          <p:cNvPr id="322" name="Google Shape;322;p47"/>
          <p:cNvSpPr txBox="1"/>
          <p:nvPr>
            <p:ph idx="1" type="body"/>
          </p:nvPr>
        </p:nvSpPr>
        <p:spPr>
          <a:xfrm>
            <a:off x="1257300" y="2001200"/>
            <a:ext cx="10500600" cy="72642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723900" lvl="0" marL="914400" rtl="0" algn="l">
              <a:spcBef>
                <a:spcPts val="16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What is FireMonkey?</a:t>
            </a:r>
            <a:endParaRPr/>
          </a:p>
          <a:p>
            <a:pPr indent="-685800" lvl="1" marL="1828800" rtl="0" algn="l">
              <a:spcBef>
                <a:spcPts val="200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The FMX Form</a:t>
            </a:r>
            <a:endParaRPr/>
          </a:p>
          <a:p>
            <a:pPr indent="-685800" lvl="1" marL="1828800" rtl="0" algn="l">
              <a:spcBef>
                <a:spcPts val="200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FMX Layouts</a:t>
            </a:r>
            <a:endParaRPr/>
          </a:p>
          <a:p>
            <a:pPr indent="-723900" lvl="0" marL="914400" rtl="0" algn="l">
              <a:spcBef>
                <a:spcPts val="2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FireMonkey Platform Services</a:t>
            </a:r>
            <a:endParaRPr/>
          </a:p>
          <a:p>
            <a:pPr indent="-685800" lvl="1" marL="1828800" rtl="0" algn="l">
              <a:spcBef>
                <a:spcPts val="2000"/>
              </a:spcBef>
              <a:spcAft>
                <a:spcPts val="0"/>
              </a:spcAft>
              <a:buSzPts val="3600"/>
              <a:buChar char="•"/>
            </a:pPr>
            <a:r>
              <a:rPr lang="en"/>
              <a:t>Platform Default Behaviors</a:t>
            </a:r>
            <a:endParaRPr/>
          </a:p>
          <a:p>
            <a:pPr indent="-723900" lvl="0" marL="914400" rtl="0" algn="l">
              <a:spcBef>
                <a:spcPts val="2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FireUI - Technology to Fine Tune Your UI</a:t>
            </a:r>
            <a:endParaRPr/>
          </a:p>
          <a:p>
            <a:pPr indent="-723900" lvl="0" marL="914400" rtl="0" algn="l">
              <a:spcBef>
                <a:spcPts val="2000"/>
              </a:spcBef>
              <a:spcAft>
                <a:spcPts val="0"/>
              </a:spcAft>
              <a:buSzPts val="4200"/>
              <a:buChar char="•"/>
            </a:pPr>
            <a:r>
              <a:rPr lang="en"/>
              <a:t>FMX Compared to VCL</a:t>
            </a:r>
            <a:endParaRPr/>
          </a:p>
          <a:p>
            <a:pPr indent="-723900" lvl="0" marL="914400" rtl="0" algn="l">
              <a:spcBef>
                <a:spcPts val="2000"/>
              </a:spcBef>
              <a:spcAft>
                <a:spcPts val="2000"/>
              </a:spcAft>
              <a:buSzPts val="4200"/>
              <a:buChar char="•"/>
            </a:pPr>
            <a:r>
              <a:rPr lang="en"/>
              <a:t>Building Your First FireMonkey App</a:t>
            </a:r>
            <a:endParaRPr/>
          </a:p>
        </p:txBody>
      </p:sp>
      <p:grpSp>
        <p:nvGrpSpPr>
          <p:cNvPr id="323" name="Google Shape;323;p47"/>
          <p:cNvGrpSpPr/>
          <p:nvPr/>
        </p:nvGrpSpPr>
        <p:grpSpPr>
          <a:xfrm>
            <a:off x="12559205" y="878735"/>
            <a:ext cx="4638525" cy="7860700"/>
            <a:chOff x="6279603" y="363167"/>
            <a:chExt cx="2319263" cy="3930350"/>
          </a:xfrm>
        </p:grpSpPr>
        <p:sp>
          <p:nvSpPr>
            <p:cNvPr id="324" name="Google Shape;324;p47"/>
            <p:cNvSpPr/>
            <p:nvPr/>
          </p:nvSpPr>
          <p:spPr>
            <a:xfrm>
              <a:off x="6546340" y="363167"/>
              <a:ext cx="2052525" cy="3930350"/>
            </a:xfrm>
            <a:custGeom>
              <a:rect b="b" l="l" r="r" t="t"/>
              <a:pathLst>
                <a:path extrusionOk="0" h="157214" w="82101">
                  <a:moveTo>
                    <a:pt x="63855" y="6"/>
                  </a:moveTo>
                  <a:cubicBezTo>
                    <a:pt x="62953" y="-279"/>
                    <a:pt x="65042" y="9172"/>
                    <a:pt x="61860" y="14539"/>
                  </a:cubicBezTo>
                  <a:cubicBezTo>
                    <a:pt x="58678" y="19906"/>
                    <a:pt x="50129" y="27314"/>
                    <a:pt x="44762" y="32206"/>
                  </a:cubicBezTo>
                  <a:cubicBezTo>
                    <a:pt x="39395" y="37098"/>
                    <a:pt x="35026" y="38997"/>
                    <a:pt x="29659" y="43889"/>
                  </a:cubicBezTo>
                  <a:cubicBezTo>
                    <a:pt x="24292" y="48781"/>
                    <a:pt x="16742" y="56318"/>
                    <a:pt x="12562" y="61557"/>
                  </a:cubicBezTo>
                  <a:cubicBezTo>
                    <a:pt x="8383" y="66796"/>
                    <a:pt x="6672" y="69845"/>
                    <a:pt x="4582" y="75321"/>
                  </a:cubicBezTo>
                  <a:cubicBezTo>
                    <a:pt x="2492" y="80797"/>
                    <a:pt x="213" y="87779"/>
                    <a:pt x="23" y="94414"/>
                  </a:cubicBezTo>
                  <a:cubicBezTo>
                    <a:pt x="-167" y="101049"/>
                    <a:pt x="783" y="108067"/>
                    <a:pt x="3443" y="115129"/>
                  </a:cubicBezTo>
                  <a:cubicBezTo>
                    <a:pt x="6103" y="122191"/>
                    <a:pt x="10804" y="130754"/>
                    <a:pt x="15981" y="136786"/>
                  </a:cubicBezTo>
                  <a:cubicBezTo>
                    <a:pt x="21158" y="142818"/>
                    <a:pt x="28330" y="147947"/>
                    <a:pt x="34504" y="151319"/>
                  </a:cubicBezTo>
                  <a:cubicBezTo>
                    <a:pt x="40678" y="154691"/>
                    <a:pt x="48893" y="156353"/>
                    <a:pt x="53025" y="157018"/>
                  </a:cubicBezTo>
                  <a:cubicBezTo>
                    <a:pt x="57157" y="157683"/>
                    <a:pt x="60339" y="156543"/>
                    <a:pt x="59294" y="155308"/>
                  </a:cubicBezTo>
                  <a:cubicBezTo>
                    <a:pt x="58249" y="154073"/>
                    <a:pt x="49796" y="152031"/>
                    <a:pt x="46757" y="149609"/>
                  </a:cubicBezTo>
                  <a:cubicBezTo>
                    <a:pt x="43718" y="147187"/>
                    <a:pt x="41818" y="144385"/>
                    <a:pt x="41058" y="140775"/>
                  </a:cubicBezTo>
                  <a:cubicBezTo>
                    <a:pt x="40298" y="137166"/>
                    <a:pt x="40820" y="132084"/>
                    <a:pt x="42197" y="127952"/>
                  </a:cubicBezTo>
                  <a:cubicBezTo>
                    <a:pt x="43574" y="123820"/>
                    <a:pt x="45238" y="121778"/>
                    <a:pt x="49322" y="115984"/>
                  </a:cubicBezTo>
                  <a:cubicBezTo>
                    <a:pt x="53407" y="110190"/>
                    <a:pt x="61955" y="100311"/>
                    <a:pt x="66704" y="93187"/>
                  </a:cubicBezTo>
                  <a:cubicBezTo>
                    <a:pt x="71453" y="86063"/>
                    <a:pt x="75252" y="79794"/>
                    <a:pt x="77817" y="73240"/>
                  </a:cubicBezTo>
                  <a:cubicBezTo>
                    <a:pt x="80382" y="66686"/>
                    <a:pt x="81902" y="60512"/>
                    <a:pt x="82092" y="53863"/>
                  </a:cubicBezTo>
                  <a:cubicBezTo>
                    <a:pt x="82282" y="47214"/>
                    <a:pt x="79432" y="35293"/>
                    <a:pt x="78957" y="33346"/>
                  </a:cubicBezTo>
                  <a:cubicBezTo>
                    <a:pt x="78482" y="31399"/>
                    <a:pt x="79859" y="38143"/>
                    <a:pt x="79242" y="42180"/>
                  </a:cubicBezTo>
                  <a:cubicBezTo>
                    <a:pt x="78625" y="46217"/>
                    <a:pt x="77913" y="52105"/>
                    <a:pt x="75253" y="57567"/>
                  </a:cubicBezTo>
                  <a:cubicBezTo>
                    <a:pt x="72594" y="63029"/>
                    <a:pt x="67939" y="69963"/>
                    <a:pt x="63285" y="74950"/>
                  </a:cubicBezTo>
                  <a:cubicBezTo>
                    <a:pt x="58631" y="79937"/>
                    <a:pt x="51934" y="85208"/>
                    <a:pt x="47327" y="87488"/>
                  </a:cubicBezTo>
                  <a:cubicBezTo>
                    <a:pt x="42720" y="89768"/>
                    <a:pt x="38826" y="89340"/>
                    <a:pt x="35644" y="88628"/>
                  </a:cubicBezTo>
                  <a:cubicBezTo>
                    <a:pt x="32462" y="87916"/>
                    <a:pt x="29423" y="85826"/>
                    <a:pt x="28235" y="83214"/>
                  </a:cubicBezTo>
                  <a:cubicBezTo>
                    <a:pt x="27048" y="80602"/>
                    <a:pt x="27379" y="76850"/>
                    <a:pt x="28519" y="72955"/>
                  </a:cubicBezTo>
                  <a:cubicBezTo>
                    <a:pt x="29659" y="69061"/>
                    <a:pt x="31702" y="64596"/>
                    <a:pt x="35074" y="59847"/>
                  </a:cubicBezTo>
                  <a:cubicBezTo>
                    <a:pt x="38446" y="55098"/>
                    <a:pt x="44335" y="49208"/>
                    <a:pt x="48752" y="44459"/>
                  </a:cubicBezTo>
                  <a:cubicBezTo>
                    <a:pt x="53169" y="39710"/>
                    <a:pt x="58488" y="36053"/>
                    <a:pt x="61575" y="31351"/>
                  </a:cubicBezTo>
                  <a:cubicBezTo>
                    <a:pt x="64662" y="26649"/>
                    <a:pt x="66894" y="21473"/>
                    <a:pt x="67274" y="16249"/>
                  </a:cubicBezTo>
                  <a:cubicBezTo>
                    <a:pt x="67654" y="11025"/>
                    <a:pt x="64757" y="291"/>
                    <a:pt x="63855" y="6"/>
                  </a:cubicBezTo>
                  <a:close/>
                </a:path>
              </a:pathLst>
            </a:custGeom>
            <a:solidFill>
              <a:srgbClr val="CC0000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25" name="Google Shape;325;p47"/>
            <p:cNvSpPr/>
            <p:nvPr/>
          </p:nvSpPr>
          <p:spPr>
            <a:xfrm>
              <a:off x="6279603" y="1371086"/>
              <a:ext cx="1655900" cy="2919250"/>
            </a:xfrm>
            <a:custGeom>
              <a:rect b="b" l="l" r="r" t="t"/>
              <a:pathLst>
                <a:path extrusionOk="0" h="116770" w="66236">
                  <a:moveTo>
                    <a:pt x="44663" y="21"/>
                  </a:moveTo>
                  <a:cubicBezTo>
                    <a:pt x="44093" y="-501"/>
                    <a:pt x="30460" y="9061"/>
                    <a:pt x="24371" y="14402"/>
                  </a:cubicBezTo>
                  <a:cubicBezTo>
                    <a:pt x="18282" y="19743"/>
                    <a:pt x="11833" y="26750"/>
                    <a:pt x="8128" y="32069"/>
                  </a:cubicBezTo>
                  <a:cubicBezTo>
                    <a:pt x="4424" y="37388"/>
                    <a:pt x="3484" y="41816"/>
                    <a:pt x="2144" y="46317"/>
                  </a:cubicBezTo>
                  <a:cubicBezTo>
                    <a:pt x="804" y="50818"/>
                    <a:pt x="276" y="54707"/>
                    <a:pt x="86" y="59076"/>
                  </a:cubicBezTo>
                  <a:cubicBezTo>
                    <a:pt x="-104" y="63445"/>
                    <a:pt x="-51" y="67678"/>
                    <a:pt x="1004" y="72533"/>
                  </a:cubicBezTo>
                  <a:cubicBezTo>
                    <a:pt x="2059" y="77388"/>
                    <a:pt x="2999" y="82649"/>
                    <a:pt x="6418" y="88206"/>
                  </a:cubicBezTo>
                  <a:cubicBezTo>
                    <a:pt x="9838" y="93763"/>
                    <a:pt x="15632" y="101410"/>
                    <a:pt x="21521" y="105874"/>
                  </a:cubicBezTo>
                  <a:cubicBezTo>
                    <a:pt x="27410" y="110338"/>
                    <a:pt x="34344" y="113187"/>
                    <a:pt x="41753" y="114992"/>
                  </a:cubicBezTo>
                  <a:cubicBezTo>
                    <a:pt x="49162" y="116797"/>
                    <a:pt x="64075" y="116892"/>
                    <a:pt x="65975" y="116702"/>
                  </a:cubicBezTo>
                  <a:cubicBezTo>
                    <a:pt x="67875" y="116512"/>
                    <a:pt x="58994" y="116512"/>
                    <a:pt x="53152" y="113852"/>
                  </a:cubicBezTo>
                  <a:cubicBezTo>
                    <a:pt x="47310" y="111192"/>
                    <a:pt x="36975" y="106381"/>
                    <a:pt x="30925" y="100744"/>
                  </a:cubicBezTo>
                  <a:cubicBezTo>
                    <a:pt x="24875" y="95107"/>
                    <a:pt x="20127" y="87630"/>
                    <a:pt x="16850" y="80031"/>
                  </a:cubicBezTo>
                  <a:cubicBezTo>
                    <a:pt x="13573" y="72432"/>
                    <a:pt x="11339" y="62955"/>
                    <a:pt x="11263" y="55151"/>
                  </a:cubicBezTo>
                  <a:cubicBezTo>
                    <a:pt x="11187" y="47347"/>
                    <a:pt x="13638" y="39478"/>
                    <a:pt x="16392" y="33209"/>
                  </a:cubicBezTo>
                  <a:cubicBezTo>
                    <a:pt x="19147" y="26940"/>
                    <a:pt x="23078" y="23067"/>
                    <a:pt x="27790" y="17536"/>
                  </a:cubicBezTo>
                  <a:cubicBezTo>
                    <a:pt x="32502" y="12005"/>
                    <a:pt x="45233" y="543"/>
                    <a:pt x="44663" y="21"/>
                  </a:cubicBezTo>
                  <a:close/>
                </a:path>
              </a:pathLst>
            </a:custGeom>
            <a:solidFill>
              <a:srgbClr val="FF9900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1247775" y="5263454"/>
            <a:ext cx="15773400" cy="1580400"/>
          </a:xfrm>
          <a:prstGeom prst="rect">
            <a:avLst/>
          </a:prstGeom>
        </p:spPr>
        <p:txBody>
          <a:bodyPr anchorCtr="0" anchor="b" bIns="68550" lIns="137150" spcFirstLastPara="1" rIns="137150" wrap="square" tIns="6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Next...</a:t>
            </a:r>
            <a:endParaRPr/>
          </a:p>
        </p:txBody>
      </p:sp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1247775" y="6426994"/>
            <a:ext cx="15773400" cy="2250000"/>
          </a:xfrm>
          <a:prstGeom prst="rect">
            <a:avLst/>
          </a:prstGeom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9400"/>
              <a:t>Setting Up Mobile Development</a:t>
            </a:r>
            <a:endParaRPr i="1" sz="9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000"/>
              <a:t>Focus on Android, but also touch on iOS</a:t>
            </a:r>
            <a:endParaRPr i="1" sz="5000"/>
          </a:p>
        </p:txBody>
      </p:sp>
      <p:grpSp>
        <p:nvGrpSpPr>
          <p:cNvPr id="332" name="Google Shape;332;p48"/>
          <p:cNvGrpSpPr/>
          <p:nvPr/>
        </p:nvGrpSpPr>
        <p:grpSpPr>
          <a:xfrm>
            <a:off x="3852238" y="776188"/>
            <a:ext cx="10564470" cy="4873860"/>
            <a:chOff x="7088425" y="1019300"/>
            <a:chExt cx="9932747" cy="4616272"/>
          </a:xfrm>
        </p:grpSpPr>
        <p:pic>
          <p:nvPicPr>
            <p:cNvPr id="333" name="Google Shape;333;p48"/>
            <p:cNvPicPr preferRelativeResize="0"/>
            <p:nvPr/>
          </p:nvPicPr>
          <p:blipFill rotWithShape="1">
            <a:blip r:embed="rId3">
              <a:alphaModFix/>
            </a:blip>
            <a:srcRect b="28346" l="0" r="0" t="25177"/>
            <a:stretch/>
          </p:blipFill>
          <p:spPr>
            <a:xfrm>
              <a:off x="7088425" y="1019300"/>
              <a:ext cx="9932747" cy="4616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48"/>
            <p:cNvPicPr preferRelativeResize="0"/>
            <p:nvPr/>
          </p:nvPicPr>
          <p:blipFill>
            <a:blip r:embed="rId4">
              <a:alphaModFix amt="48000"/>
            </a:blip>
            <a:stretch>
              <a:fillRect/>
            </a:stretch>
          </p:blipFill>
          <p:spPr>
            <a:xfrm>
              <a:off x="13398625" y="3075700"/>
              <a:ext cx="1197356" cy="1424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48"/>
            <p:cNvPicPr preferRelativeResize="0"/>
            <p:nvPr/>
          </p:nvPicPr>
          <p:blipFill>
            <a:blip r:embed="rId5">
              <a:alphaModFix amt="52000"/>
            </a:blip>
            <a:stretch>
              <a:fillRect/>
            </a:stretch>
          </p:blipFill>
          <p:spPr>
            <a:xfrm>
              <a:off x="9573900" y="3008600"/>
              <a:ext cx="1101950" cy="1338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